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7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363" r:id="rId24"/>
    <p:sldId id="365" r:id="rId25"/>
    <p:sldId id="364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476" r:id="rId36"/>
    <p:sldId id="376" r:id="rId37"/>
    <p:sldId id="379" r:id="rId38"/>
    <p:sldId id="437" r:id="rId39"/>
    <p:sldId id="438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8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39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68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23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9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3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18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15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3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99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microsoft.com/office/2007/relationships/hdphoto" Target="../media/hdphoto8.wdp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microsoft.com/office/2007/relationships/hdphoto" Target="../media/hdphoto9.wdp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0.wdp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1.wdp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microsoft.com/office/2007/relationships/hdphoto" Target="../media/hdphoto7.wdp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2.wdp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3.wdp"/><Relationship Id="rId7" Type="http://schemas.microsoft.com/office/2007/relationships/hdphoto" Target="../media/hdphoto8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microsoft.com/office/2007/relationships/hdphoto" Target="../media/hdphoto12.wdp"/><Relationship Id="rId4" Type="http://schemas.openxmlformats.org/officeDocument/2006/relationships/image" Target="../media/image21.png"/><Relationship Id="rId9" Type="http://schemas.microsoft.com/office/2007/relationships/hdphoto" Target="../media/hdphoto7.wdp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microsoft.com/office/2007/relationships/hdphoto" Target="../media/hdphoto15.wdp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09800" y="1122363"/>
            <a:ext cx="77724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67000" y="3429000"/>
            <a:ext cx="6858000" cy="2359152"/>
          </a:xfrm>
        </p:spPr>
        <p:txBody>
          <a:bodyPr>
            <a:normAutofit/>
          </a:bodyPr>
          <a:lstStyle/>
          <a:p>
            <a:r>
              <a:rPr lang="ru-RU" dirty="0"/>
              <a:t>Лекция 2.6:</a:t>
            </a:r>
          </a:p>
          <a:p>
            <a:r>
              <a:rPr lang="ru-RU" dirty="0"/>
              <a:t>Графы (продолжение).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886158"/>
          </a:xfrm>
        </p:spPr>
        <p:txBody>
          <a:bodyPr/>
          <a:lstStyle/>
          <a:p>
            <a:r>
              <a:rPr lang="ru-RU" dirty="0"/>
              <a:t>Обход графа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043" y="2129841"/>
            <a:ext cx="3407063" cy="1644359"/>
          </a:xfrm>
          <a:ln>
            <a:solidFill>
              <a:schemeClr val="tx1"/>
            </a:solidFill>
          </a:ln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374105" y="1443790"/>
            <a:ext cx="5061284" cy="519764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Обход</a:t>
            </a:r>
            <a:r>
              <a:rPr lang="ru-RU" dirty="0"/>
              <a:t> – это процесс систематического просмотра всех рёбер или вершин графа с целью отыскания рёбер или вершин, удовлетворяющих некоторому условию</a:t>
            </a:r>
          </a:p>
          <a:p>
            <a:r>
              <a:rPr lang="ru-RU" u="sng" dirty="0"/>
              <a:t>Способы</a:t>
            </a:r>
            <a:r>
              <a:rPr lang="ru-RU" dirty="0"/>
              <a:t> обхода:</a:t>
            </a:r>
          </a:p>
          <a:p>
            <a:pPr lvl="1"/>
            <a:r>
              <a:rPr lang="ru-RU" dirty="0"/>
              <a:t>В </a:t>
            </a:r>
            <a:r>
              <a:rPr lang="ru-RU" b="1" dirty="0"/>
              <a:t>ширину     </a:t>
            </a:r>
            <a:r>
              <a:rPr lang="ru-RU" dirty="0"/>
              <a:t>→</a:t>
            </a:r>
          </a:p>
          <a:p>
            <a:pPr lvl="1"/>
            <a:r>
              <a:rPr lang="ru-RU" dirty="0"/>
              <a:t>В </a:t>
            </a:r>
            <a:r>
              <a:rPr lang="ru-RU" b="1" dirty="0"/>
              <a:t>глубину</a:t>
            </a:r>
            <a:r>
              <a:rPr lang="ru-RU" dirty="0"/>
              <a:t>;</a:t>
            </a:r>
          </a:p>
          <a:p>
            <a:r>
              <a:rPr lang="ru-RU" dirty="0"/>
              <a:t>Алгоритмы обхода лежат в основе решения различных </a:t>
            </a:r>
            <a:r>
              <a:rPr lang="ru-RU" b="1" dirty="0"/>
              <a:t>задач обработки графов </a:t>
            </a:r>
            <a:r>
              <a:rPr lang="ru-RU" dirty="0"/>
              <a:t>– построения </a:t>
            </a:r>
            <a:r>
              <a:rPr lang="ru-RU" dirty="0" err="1"/>
              <a:t>остовного</a:t>
            </a:r>
            <a:r>
              <a:rPr lang="ru-RU" dirty="0"/>
              <a:t> дерева, проверки связности, ацикличности, вычисления расстояний между вершинами и др.</a:t>
            </a:r>
          </a:p>
        </p:txBody>
      </p:sp>
    </p:spTree>
    <p:extLst>
      <p:ext uri="{BB962C8B-B14F-4D97-AF65-F5344CB8AC3E}">
        <p14:creationId xmlns:p14="http://schemas.microsoft.com/office/powerpoint/2010/main" val="78752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8"/>
            <a:ext cx="7886700" cy="603981"/>
          </a:xfrm>
        </p:spPr>
        <p:txBody>
          <a:bodyPr>
            <a:noAutofit/>
          </a:bodyPr>
          <a:lstStyle/>
          <a:p>
            <a:r>
              <a:rPr lang="ru-RU" sz="3600" dirty="0"/>
              <a:t>1. Поиск в ширину </a:t>
            </a:r>
            <a:br>
              <a:rPr lang="ru-RU" sz="3600" dirty="0"/>
            </a:br>
            <a:r>
              <a:rPr lang="ru-RU" sz="3600" dirty="0"/>
              <a:t>(</a:t>
            </a:r>
            <a:r>
              <a:rPr lang="en-US" sz="3600" dirty="0"/>
              <a:t>breadth-first search, BFS</a:t>
            </a:r>
            <a:r>
              <a:rPr lang="ru-RU" sz="3600" dirty="0"/>
              <a:t>)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42401"/>
            <a:ext cx="5181600" cy="111778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152649" y="1367693"/>
            <a:ext cx="7886700" cy="345600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Подразумевает </a:t>
            </a:r>
            <a:r>
              <a:rPr lang="ru-RU" dirty="0" err="1"/>
              <a:t>поуровневое</a:t>
            </a:r>
            <a:r>
              <a:rPr lang="ru-RU" dirty="0"/>
              <a:t> исследование графа:</a:t>
            </a:r>
          </a:p>
          <a:p>
            <a:pPr lvl="1"/>
            <a:r>
              <a:rPr lang="ru-RU" dirty="0"/>
              <a:t>Сначала посещается </a:t>
            </a:r>
            <a:r>
              <a:rPr lang="ru-RU" b="1" dirty="0"/>
              <a:t>узел-источник</a:t>
            </a:r>
            <a:r>
              <a:rPr lang="ru-RU" dirty="0"/>
              <a:t> – произвольно выбранный узел,</a:t>
            </a:r>
          </a:p>
          <a:p>
            <a:pPr lvl="1"/>
            <a:r>
              <a:rPr lang="ru-RU" dirty="0"/>
              <a:t>Затем – </a:t>
            </a:r>
            <a:r>
              <a:rPr lang="ru-RU" b="1" dirty="0"/>
              <a:t>все </a:t>
            </a:r>
            <a:r>
              <a:rPr lang="ru-RU" dirty="0"/>
              <a:t>его </a:t>
            </a:r>
            <a:r>
              <a:rPr lang="ru-RU" b="1" dirty="0"/>
              <a:t>потомки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После этого </a:t>
            </a:r>
            <a:r>
              <a:rPr lang="ru-RU" b="1" dirty="0"/>
              <a:t>потомки потомков </a:t>
            </a:r>
            <a:r>
              <a:rPr lang="ru-RU" dirty="0"/>
              <a:t>и т.д.</a:t>
            </a:r>
          </a:p>
          <a:p>
            <a:r>
              <a:rPr lang="ru-RU" dirty="0"/>
              <a:t>Вершины просматриваются в порядке возрастания их расстояния от корня</a:t>
            </a:r>
          </a:p>
          <a:p>
            <a:r>
              <a:rPr lang="ru-RU" dirty="0"/>
              <a:t>Алгоритм прекращает свою работу после </a:t>
            </a:r>
            <a:r>
              <a:rPr lang="ru-RU" b="1" dirty="0"/>
              <a:t>обхода всех вершин </a:t>
            </a:r>
            <a:r>
              <a:rPr lang="ru-RU" dirty="0"/>
              <a:t>графа, либо в случае выполнения требуемого условия (</a:t>
            </a:r>
            <a:r>
              <a:rPr lang="ru-RU" b="1" dirty="0"/>
              <a:t>нахождения целевого узла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3479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алгоритма поиска в ширину: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60" y="2673128"/>
            <a:ext cx="2644521" cy="1861506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318760" y="1825625"/>
            <a:ext cx="4720590" cy="468490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800"/>
              </a:spcBef>
            </a:pPr>
            <a:r>
              <a:rPr lang="ru-RU" dirty="0"/>
              <a:t>При обнаружении </a:t>
            </a:r>
            <a:r>
              <a:rPr lang="ru-RU" b="1" dirty="0"/>
              <a:t>заданной вершины </a:t>
            </a:r>
            <a:r>
              <a:rPr lang="ru-RU" dirty="0"/>
              <a:t>(целевого узла) построенный путь является </a:t>
            </a:r>
            <a:r>
              <a:rPr lang="ru-RU" b="1" dirty="0"/>
              <a:t>кратчайшим</a:t>
            </a:r>
            <a:endParaRPr lang="ru-RU" sz="2700" b="1" dirty="0"/>
          </a:p>
          <a:p>
            <a:pPr>
              <a:spcBef>
                <a:spcPts val="1800"/>
              </a:spcBef>
            </a:pPr>
            <a:r>
              <a:rPr lang="ru-RU" sz="2700" dirty="0"/>
              <a:t>Для реализации алгоритма удобно использовать </a:t>
            </a:r>
            <a:r>
              <a:rPr lang="ru-RU" sz="2700" b="1" dirty="0"/>
              <a:t>очередь</a:t>
            </a:r>
          </a:p>
          <a:p>
            <a:r>
              <a:rPr lang="ru-RU" sz="2700" b="1" dirty="0"/>
              <a:t>Сложность поиска </a:t>
            </a:r>
            <a:r>
              <a:rPr lang="ru-RU" sz="2700" dirty="0"/>
              <a:t>при списочном (нематричном) представлении графа </a:t>
            </a:r>
            <a:r>
              <a:rPr lang="ru-RU" sz="2700" b="1" dirty="0"/>
              <a:t>O(</a:t>
            </a:r>
            <a:r>
              <a:rPr lang="ru-RU" sz="2700" b="1" dirty="0" err="1"/>
              <a:t>n+m</a:t>
            </a:r>
            <a:r>
              <a:rPr lang="ru-RU" sz="2700" b="1" dirty="0"/>
              <a:t>)</a:t>
            </a:r>
            <a:r>
              <a:rPr lang="ru-RU" sz="2700" dirty="0"/>
              <a:t>, т.к. рассматриваются все n вершин и m ребер</a:t>
            </a:r>
          </a:p>
          <a:p>
            <a:r>
              <a:rPr lang="ru-RU" sz="2700" dirty="0"/>
              <a:t>Использование матрицы смежности приводит к оценке </a:t>
            </a:r>
            <a:r>
              <a:rPr lang="ru-RU" sz="2700" b="1" dirty="0"/>
              <a:t>O(n</a:t>
            </a:r>
            <a:r>
              <a:rPr lang="ru-RU" sz="2700" b="1" baseline="30000" dirty="0"/>
              <a:t>2</a:t>
            </a:r>
            <a:r>
              <a:rPr lang="ru-RU" sz="2700" b="1" dirty="0"/>
              <a:t>)</a:t>
            </a:r>
            <a:r>
              <a:rPr lang="ru-RU" sz="2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06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Применения алгоритма поиска в ширину: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35" y="2353088"/>
            <a:ext cx="2606672" cy="1834864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46776" y="1825625"/>
            <a:ext cx="4800600" cy="4767199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Поиск </a:t>
            </a:r>
            <a:r>
              <a:rPr lang="ru-RU" b="1" dirty="0"/>
              <a:t>кратчайшего пути </a:t>
            </a:r>
            <a:r>
              <a:rPr lang="ru-RU" dirty="0"/>
              <a:t>в невзвешенном графе (ориентированном или неориентированном)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Поиск </a:t>
            </a:r>
            <a:r>
              <a:rPr lang="ru-RU" b="1" dirty="0"/>
              <a:t>компонент связности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Нахождения решения какой-либо задачи (игры) с </a:t>
            </a:r>
            <a:r>
              <a:rPr lang="ru-RU" b="1" dirty="0"/>
              <a:t>наименьшим числом ходов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Найти </a:t>
            </a:r>
            <a:r>
              <a:rPr lang="ru-RU" b="1" dirty="0"/>
              <a:t>все рёбра</a:t>
            </a:r>
            <a:r>
              <a:rPr lang="ru-RU" dirty="0"/>
              <a:t>, лежащие на каком-либо кратчайшем пути между заданной парой вершин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Найти </a:t>
            </a:r>
            <a:r>
              <a:rPr lang="ru-RU" b="1" dirty="0"/>
              <a:t>все вершины</a:t>
            </a:r>
            <a:r>
              <a:rPr lang="ru-RU" dirty="0"/>
              <a:t>, лежащие на каком-либо кратчайшем пути между заданной парой вершин</a:t>
            </a:r>
            <a:r>
              <a:rPr lang="ru-RU" sz="2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618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937248" y="201934"/>
            <a:ext cx="3465576" cy="1793623"/>
          </a:xfrm>
        </p:spPr>
        <p:txBody>
          <a:bodyPr>
            <a:normAutofit/>
          </a:bodyPr>
          <a:lstStyle/>
          <a:p>
            <a:r>
              <a:rPr lang="ru-RU" sz="3200" dirty="0"/>
              <a:t>Реализация на C++ (с использованием очереди STL)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647" y="201933"/>
            <a:ext cx="5080441" cy="6477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248" y="1995556"/>
            <a:ext cx="3403016" cy="191719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528" y="4150043"/>
            <a:ext cx="30670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1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24178"/>
          </a:xfrm>
        </p:spPr>
        <p:txBody>
          <a:bodyPr>
            <a:normAutofit fontScale="90000"/>
          </a:bodyPr>
          <a:lstStyle/>
          <a:p>
            <a:r>
              <a:rPr lang="ru-RU" dirty="0"/>
              <a:t>2. Поиск в глубину 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Depth-first search, DFS</a:t>
            </a:r>
            <a:r>
              <a:rPr lang="ru-RU" dirty="0"/>
              <a:t>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102" y="2176522"/>
            <a:ext cx="4129731" cy="1993142"/>
          </a:xfrm>
          <a:ln>
            <a:solidFill>
              <a:schemeClr val="tx1"/>
            </a:solidFill>
          </a:ln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956416" y="1618488"/>
            <a:ext cx="4409832" cy="493776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Предполагает продвижение вглубь до тех пор, пока это возможно – до попадания в </a:t>
            </a:r>
            <a:r>
              <a:rPr lang="ru-RU" b="1" dirty="0"/>
              <a:t>тупик</a:t>
            </a:r>
          </a:p>
          <a:p>
            <a:r>
              <a:rPr lang="ru-RU" dirty="0"/>
              <a:t>Тупик – вершина графа, у которой все смежные вершины посещены</a:t>
            </a:r>
          </a:p>
          <a:p>
            <a:r>
              <a:rPr lang="ru-RU" dirty="0"/>
              <a:t>Из тупика </a:t>
            </a:r>
            <a:r>
              <a:rPr lang="ru-RU" b="1" dirty="0"/>
              <a:t>возвращаемся</a:t>
            </a:r>
            <a:r>
              <a:rPr lang="ru-RU" dirty="0"/>
              <a:t> вдоль пройденного пути до вершины, у которой есть ещё не </a:t>
            </a:r>
            <a:r>
              <a:rPr lang="ru-RU" b="1" dirty="0"/>
              <a:t>посещенный сосед</a:t>
            </a:r>
          </a:p>
          <a:p>
            <a:r>
              <a:rPr lang="ru-RU" dirty="0"/>
              <a:t>И далее двигаться в этом направлении</a:t>
            </a:r>
          </a:p>
          <a:p>
            <a:r>
              <a:rPr lang="ru-RU" dirty="0"/>
              <a:t>Процесс считается завершенным при попадании </a:t>
            </a:r>
            <a:r>
              <a:rPr lang="ru-RU" b="1" dirty="0"/>
              <a:t>в начальную вершину </a:t>
            </a:r>
            <a:r>
              <a:rPr lang="ru-RU" dirty="0"/>
              <a:t>при том, что все смежные с ней должны быть посещены.</a:t>
            </a:r>
          </a:p>
        </p:txBody>
      </p:sp>
    </p:spTree>
    <p:extLst>
      <p:ext uri="{BB962C8B-B14F-4D97-AF65-F5344CB8AC3E}">
        <p14:creationId xmlns:p14="http://schemas.microsoft.com/office/powerpoint/2010/main" val="254485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алгоритма поиска в глубину: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356" y="2466346"/>
            <a:ext cx="2294906" cy="1615408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47557" y="1825625"/>
            <a:ext cx="5939706" cy="468490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800"/>
              </a:spcBef>
            </a:pPr>
            <a:r>
              <a:rPr lang="ru-RU" dirty="0"/>
              <a:t>Алгоритм работает как на ориентированных, так и на неориентированных графах</a:t>
            </a:r>
          </a:p>
          <a:p>
            <a:pPr>
              <a:spcBef>
                <a:spcPts val="1800"/>
              </a:spcBef>
            </a:pPr>
            <a:r>
              <a:rPr lang="ru-RU" dirty="0"/>
              <a:t>Применимость алгоритма зависит от конкретной задачи</a:t>
            </a:r>
          </a:p>
          <a:p>
            <a:pPr>
              <a:spcBef>
                <a:spcPts val="1800"/>
              </a:spcBef>
            </a:pPr>
            <a:r>
              <a:rPr lang="ru-RU" dirty="0"/>
              <a:t>Для реализации алгоритма удобно использовать </a:t>
            </a:r>
            <a:r>
              <a:rPr lang="ru-RU" b="1" dirty="0"/>
              <a:t>стек</a:t>
            </a:r>
            <a:r>
              <a:rPr lang="ru-RU" dirty="0"/>
              <a:t> (</a:t>
            </a:r>
            <a:r>
              <a:rPr lang="ru-RU" dirty="0" err="1"/>
              <a:t>нерекурсивный</a:t>
            </a:r>
            <a:r>
              <a:rPr lang="ru-RU" dirty="0"/>
              <a:t> алгоритм) или </a:t>
            </a:r>
            <a:r>
              <a:rPr lang="ru-RU" b="1" dirty="0"/>
              <a:t>рекурсию</a:t>
            </a:r>
          </a:p>
          <a:p>
            <a:pPr>
              <a:spcBef>
                <a:spcPts val="1800"/>
              </a:spcBef>
            </a:pPr>
            <a:r>
              <a:rPr lang="ru-RU" b="1" dirty="0"/>
              <a:t>Временная сложность </a:t>
            </a:r>
            <a:r>
              <a:rPr lang="ru-RU" dirty="0"/>
              <a:t>зависит от представления графа:</a:t>
            </a:r>
          </a:p>
          <a:p>
            <a:pPr lvl="1">
              <a:spcBef>
                <a:spcPts val="1800"/>
              </a:spcBef>
            </a:pPr>
            <a:r>
              <a:rPr lang="ru-RU" dirty="0"/>
              <a:t>матрицей смежности – O(n</a:t>
            </a:r>
            <a:r>
              <a:rPr lang="ru-RU" baseline="30000" dirty="0"/>
              <a:t>2</a:t>
            </a:r>
            <a:r>
              <a:rPr lang="ru-RU" dirty="0"/>
              <a:t>), </a:t>
            </a:r>
          </a:p>
          <a:p>
            <a:pPr lvl="1">
              <a:spcBef>
                <a:spcPts val="1800"/>
              </a:spcBef>
            </a:pPr>
            <a:r>
              <a:rPr lang="ru-RU" dirty="0"/>
              <a:t>нематричное представление – O(</a:t>
            </a:r>
            <a:r>
              <a:rPr lang="ru-RU" dirty="0" err="1"/>
              <a:t>n+m</a:t>
            </a:r>
            <a:r>
              <a:rPr lang="ru-RU" dirty="0"/>
              <a:t>), т.к. рассматриваются все вершины и все рёбра.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299708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Применения алгоритма поиска в глубину: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040" y="2334800"/>
            <a:ext cx="2398828" cy="1688560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63266" y="1825625"/>
            <a:ext cx="5284110" cy="476719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Поиск любого пути в графе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Поиск лексикографически первого пути в графе </a:t>
            </a:r>
            <a:br>
              <a:rPr lang="ru-RU" dirty="0"/>
            </a:br>
            <a:r>
              <a:rPr lang="ru-RU" dirty="0"/>
              <a:t>(см. </a:t>
            </a:r>
            <a:r>
              <a:rPr lang="ru-RU" b="1" dirty="0"/>
              <a:t>лексикографический порядок</a:t>
            </a:r>
            <a:r>
              <a:rPr lang="ru-RU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Проверка, является ли одна вершина графа предком другой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Поиск наименьшего общего предка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Топологическая сортировка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Поиск компонент связности.</a:t>
            </a:r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234332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937248" y="201934"/>
            <a:ext cx="3465576" cy="1793623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Реализация на C++ (с использованием очереди STL) </a:t>
            </a:r>
            <a:r>
              <a:rPr lang="ru-RU" sz="3200" b="1" dirty="0"/>
              <a:t>стеком</a:t>
            </a:r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832" y="157005"/>
            <a:ext cx="4956376" cy="655031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248" y="1995556"/>
            <a:ext cx="3256940" cy="183489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064" y="4064318"/>
            <a:ext cx="32861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3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937248" y="201934"/>
            <a:ext cx="3465576" cy="1793623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Реализация на C++ (с использованием очереди STL) </a:t>
            </a:r>
            <a:r>
              <a:rPr lang="ru-RU" sz="3200" b="1" dirty="0"/>
              <a:t>рекурсией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604" y="822961"/>
            <a:ext cx="5102810" cy="528999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248" y="1995556"/>
            <a:ext cx="3256940" cy="18348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768" y="4506278"/>
            <a:ext cx="30099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62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79695"/>
            <a:ext cx="7886700" cy="775353"/>
          </a:xfrm>
        </p:spPr>
        <p:txBody>
          <a:bodyPr>
            <a:noAutofit/>
          </a:bodyPr>
          <a:lstStyle/>
          <a:p>
            <a:r>
              <a:rPr lang="ru-RU" sz="3600" dirty="0"/>
              <a:t>Обход в глубину при программировании игр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A70682A-9827-4F30-AAD9-D2409AD802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24373"/>
            <a:ext cx="5181600" cy="295384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152650" y="1517202"/>
            <a:ext cx="7886700" cy="288286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типичной игре существует постоянно расширяющийся </a:t>
            </a:r>
            <a:r>
              <a:rPr lang="ru-RU" b="1" dirty="0"/>
              <a:t>граф вариантов </a:t>
            </a:r>
            <a:r>
              <a:rPr lang="ru-RU" dirty="0"/>
              <a:t>(например, «крестики-нолики»)</a:t>
            </a:r>
          </a:p>
          <a:p>
            <a:r>
              <a:rPr lang="ru-RU" dirty="0"/>
              <a:t>Последовательность ходов хорошо представляется в виде дерева (узлы – отдельные ходы) – </a:t>
            </a:r>
            <a:r>
              <a:rPr lang="ru-RU" b="1" dirty="0"/>
              <a:t>дерево игры</a:t>
            </a:r>
          </a:p>
          <a:p>
            <a:r>
              <a:rPr lang="ru-RU" dirty="0"/>
              <a:t>Выбор хода – на основе </a:t>
            </a:r>
            <a:r>
              <a:rPr lang="ru-RU" b="1" dirty="0"/>
              <a:t>анализа всех путей </a:t>
            </a:r>
            <a:r>
              <a:rPr lang="ru-RU" dirty="0"/>
              <a:t>до конца игры (в примере 9!= 362 880 путей)</a:t>
            </a:r>
          </a:p>
          <a:p>
            <a:r>
              <a:rPr lang="ru-RU" dirty="0"/>
              <a:t>В более сложных играх проходят путь до определённой </a:t>
            </a:r>
            <a:r>
              <a:rPr lang="ru-RU" b="1" dirty="0"/>
              <a:t>глубины</a:t>
            </a:r>
            <a:r>
              <a:rPr lang="ru-RU" dirty="0"/>
              <a:t> – даже </a:t>
            </a:r>
            <a:r>
              <a:rPr lang="ru-RU" dirty="0" err="1"/>
              <a:t>суперЭВМ</a:t>
            </a:r>
            <a:r>
              <a:rPr lang="ru-RU" dirty="0"/>
              <a:t> не способна видеть позиции до конца игры.</a:t>
            </a:r>
          </a:p>
        </p:txBody>
      </p:sp>
    </p:spTree>
    <p:extLst>
      <p:ext uri="{BB962C8B-B14F-4D97-AF65-F5344CB8AC3E}">
        <p14:creationId xmlns:p14="http://schemas.microsoft.com/office/powerpoint/2010/main" val="393518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452074"/>
            <a:ext cx="7886700" cy="924178"/>
          </a:xfrm>
        </p:spPr>
        <p:txBody>
          <a:bodyPr>
            <a:normAutofit fontScale="90000"/>
          </a:bodyPr>
          <a:lstStyle/>
          <a:p>
            <a:r>
              <a:rPr lang="ru-RU" dirty="0"/>
              <a:t>Обход в глубину при программировании игр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698" y="1884458"/>
            <a:ext cx="2001742" cy="2001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65448" y="1728217"/>
            <a:ext cx="6409944" cy="4864607"/>
          </a:xfrm>
        </p:spPr>
        <p:txBody>
          <a:bodyPr>
            <a:normAutofit/>
          </a:bodyPr>
          <a:lstStyle/>
          <a:p>
            <a:r>
              <a:rPr lang="ru-RU" dirty="0"/>
              <a:t>Способ анализа – </a:t>
            </a:r>
            <a:r>
              <a:rPr lang="ru-RU" b="1" dirty="0"/>
              <a:t>обход в глубину</a:t>
            </a:r>
          </a:p>
          <a:p>
            <a:r>
              <a:rPr lang="ru-RU" dirty="0"/>
              <a:t>Лишь часть путей дерева игры ведет к </a:t>
            </a:r>
            <a:r>
              <a:rPr lang="ru-RU" b="1" dirty="0"/>
              <a:t>выигрышу</a:t>
            </a:r>
            <a:r>
              <a:rPr lang="ru-RU" dirty="0"/>
              <a:t> (другие пути ведут к победе противника) </a:t>
            </a:r>
          </a:p>
          <a:p>
            <a:r>
              <a:rPr lang="ru-RU" dirty="0"/>
              <a:t>При достижении такого результата алгоритм отступает к предыдущему узлу и проверяет </a:t>
            </a:r>
            <a:r>
              <a:rPr lang="ru-RU" b="1" dirty="0"/>
              <a:t>другой путь</a:t>
            </a:r>
          </a:p>
          <a:p>
            <a:r>
              <a:rPr lang="ru-RU" dirty="0"/>
              <a:t>Анализ дерева продолжается, пока не будет найден путь к выигрышу (остается сделать </a:t>
            </a:r>
            <a:r>
              <a:rPr lang="ru-RU" b="1" dirty="0"/>
              <a:t>первый ход </a:t>
            </a:r>
            <a:r>
              <a:rPr lang="ru-RU" dirty="0"/>
              <a:t>на этом пути).</a:t>
            </a:r>
          </a:p>
        </p:txBody>
      </p:sp>
    </p:spTree>
    <p:extLst>
      <p:ext uri="{BB962C8B-B14F-4D97-AF65-F5344CB8AC3E}">
        <p14:creationId xmlns:p14="http://schemas.microsoft.com/office/powerpoint/2010/main" val="19781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51610"/>
          </a:xfrm>
        </p:spPr>
        <p:txBody>
          <a:bodyPr>
            <a:normAutofit/>
          </a:bodyPr>
          <a:lstStyle/>
          <a:p>
            <a:r>
              <a:rPr lang="ru-RU" dirty="0"/>
              <a:t>Транзитивное замыкание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534" y="4861662"/>
            <a:ext cx="6877400" cy="136725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152650" y="1554480"/>
            <a:ext cx="8140446" cy="315468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Бинарное отношение </a:t>
            </a:r>
            <a:r>
              <a:rPr lang="en-US" dirty="0"/>
              <a:t>R </a:t>
            </a:r>
            <a:r>
              <a:rPr lang="ru-RU" dirty="0"/>
              <a:t>на множестве </a:t>
            </a:r>
            <a:r>
              <a:rPr lang="en-US" dirty="0"/>
              <a:t>X </a:t>
            </a:r>
            <a:r>
              <a:rPr lang="ru-RU" dirty="0"/>
              <a:t>называется </a:t>
            </a:r>
            <a:r>
              <a:rPr lang="ru-RU" b="1" dirty="0"/>
              <a:t>транзитивным</a:t>
            </a:r>
            <a:r>
              <a:rPr lang="ru-RU" dirty="0"/>
              <a:t>, если для любых трёх элементов </a:t>
            </a:r>
            <a:r>
              <a:rPr lang="en-US" b="1" dirty="0"/>
              <a:t>a, b, c </a:t>
            </a:r>
            <a:r>
              <a:rPr lang="ru-RU" dirty="0"/>
              <a:t>этого множества выполнение отношений </a:t>
            </a:r>
            <a:r>
              <a:rPr lang="en-US" b="1" dirty="0" err="1"/>
              <a:t>aRb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 err="1"/>
              <a:t>bRc</a:t>
            </a:r>
            <a:r>
              <a:rPr lang="en-US" dirty="0"/>
              <a:t> </a:t>
            </a:r>
            <a:r>
              <a:rPr lang="ru-RU" dirty="0"/>
              <a:t>влечёт выполнение отношения </a:t>
            </a:r>
            <a:r>
              <a:rPr lang="en-US" b="1" dirty="0" err="1"/>
              <a:t>aRc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Связь вершин </a:t>
            </a:r>
            <a:r>
              <a:rPr lang="ru-RU" b="1" dirty="0"/>
              <a:t>в графе </a:t>
            </a:r>
            <a:r>
              <a:rPr lang="ru-RU" dirty="0"/>
              <a:t>транзитивна – т.е. если есть ориентированный путь </a:t>
            </a:r>
            <a:r>
              <a:rPr lang="ru-RU" b="1" dirty="0"/>
              <a:t>из А в </a:t>
            </a:r>
            <a:r>
              <a:rPr lang="ru-RU" b="1" dirty="0" err="1"/>
              <a:t>В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/>
              <a:t>из В </a:t>
            </a:r>
            <a:r>
              <a:rPr lang="ru-RU" b="1" dirty="0" err="1"/>
              <a:t>в</a:t>
            </a:r>
            <a:r>
              <a:rPr lang="ru-RU" b="1" dirty="0"/>
              <a:t> С</a:t>
            </a:r>
            <a:r>
              <a:rPr lang="ru-RU" dirty="0"/>
              <a:t>, то это значит, что есть путь </a:t>
            </a:r>
            <a:r>
              <a:rPr lang="ru-RU" b="1" dirty="0"/>
              <a:t>из А в С</a:t>
            </a:r>
          </a:p>
          <a:p>
            <a:pPr>
              <a:spcBef>
                <a:spcPts val="600"/>
              </a:spcBef>
            </a:pPr>
            <a:r>
              <a:rPr lang="ru-RU" altLang="ru-RU" b="1" dirty="0"/>
              <a:t>Транзитивное замыкание </a:t>
            </a:r>
            <a:r>
              <a:rPr lang="ru-RU" altLang="ru-RU" dirty="0"/>
              <a:t>бинарного отношения – это пополнение отношения </a:t>
            </a:r>
            <a:r>
              <a:rPr lang="ru-RU" altLang="ru-RU" b="1" dirty="0"/>
              <a:t>минимальным</a:t>
            </a:r>
            <a:r>
              <a:rPr lang="ru-RU" altLang="ru-RU" dirty="0"/>
              <a:t> количеством новых пар так, чтобы отношение стало транзитивным.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6668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Транзитивное замыкание орграфа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9" y="1758368"/>
            <a:ext cx="4021479" cy="42331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02959" y="1758368"/>
            <a:ext cx="5314950" cy="475805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Транзитивное замыкание в орграфе </a:t>
            </a:r>
            <a:r>
              <a:rPr lang="ru-RU" dirty="0"/>
              <a:t>– добавление дуг </a:t>
            </a:r>
            <a:r>
              <a:rPr lang="ru-RU" altLang="ru-RU" dirty="0"/>
              <a:t>между парами вершин, если в исходном орграфе между ними существуют пути</a:t>
            </a:r>
            <a:endParaRPr lang="ru-RU" altLang="ru-RU" i="1" dirty="0"/>
          </a:p>
          <a:p>
            <a:pPr>
              <a:spcBef>
                <a:spcPts val="600"/>
              </a:spcBef>
            </a:pPr>
            <a:r>
              <a:rPr lang="ru-RU" dirty="0"/>
              <a:t>Т.е. рёбра в транзитивном замыкании соединяют каждую вершину со всеми вершинами, </a:t>
            </a:r>
            <a:r>
              <a:rPr lang="ru-RU" b="1" dirty="0"/>
              <a:t>достижимыми из этой вершины</a:t>
            </a:r>
            <a:r>
              <a:rPr lang="ru-RU" dirty="0"/>
              <a:t> в исходном орграфе</a:t>
            </a:r>
          </a:p>
          <a:p>
            <a:pPr>
              <a:spcBef>
                <a:spcPts val="600"/>
              </a:spcBef>
            </a:pPr>
            <a:r>
              <a:rPr lang="ru-RU" dirty="0"/>
              <a:t>Транзитивное замыкание отражает </a:t>
            </a:r>
            <a:r>
              <a:rPr lang="ru-RU" b="1" dirty="0"/>
              <a:t>структурные свойства орграфа</a:t>
            </a:r>
            <a:r>
              <a:rPr lang="ru-RU" dirty="0"/>
              <a:t> и содержит в себе всю информацию, необходимую для </a:t>
            </a:r>
            <a:r>
              <a:rPr lang="ru-RU" b="1" dirty="0"/>
              <a:t>мгновенного</a:t>
            </a:r>
            <a:r>
              <a:rPr lang="ru-RU" dirty="0"/>
              <a:t> (т.е. за время О(1)) </a:t>
            </a:r>
            <a:r>
              <a:rPr lang="ru-RU" b="1" dirty="0"/>
              <a:t>решения </a:t>
            </a:r>
            <a:r>
              <a:rPr lang="ru-RU" dirty="0"/>
              <a:t>задач достижимости.</a:t>
            </a:r>
          </a:p>
        </p:txBody>
      </p:sp>
    </p:spTree>
    <p:extLst>
      <p:ext uri="{BB962C8B-B14F-4D97-AF65-F5344CB8AC3E}">
        <p14:creationId xmlns:p14="http://schemas.microsoft.com/office/powerpoint/2010/main" val="1013353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Уоршелла построения транзитивного замыкания орграфа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2213" y="2109630"/>
            <a:ext cx="1952485" cy="1849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99888" y="1825625"/>
            <a:ext cx="4839462" cy="4584319"/>
          </a:xfrm>
        </p:spPr>
        <p:txBody>
          <a:bodyPr>
            <a:normAutofit/>
          </a:bodyPr>
          <a:lstStyle/>
          <a:p>
            <a:r>
              <a:rPr lang="ru-RU" b="1" dirty="0"/>
              <a:t>Матрица смежности </a:t>
            </a:r>
            <a:r>
              <a:rPr lang="ru-RU" dirty="0"/>
              <a:t>содержит все допустимые </a:t>
            </a:r>
            <a:r>
              <a:rPr lang="ru-RU" b="1" dirty="0"/>
              <a:t>одношаговые пути </a:t>
            </a:r>
            <a:r>
              <a:rPr lang="ru-RU" dirty="0"/>
              <a:t>– основа алгоритма</a:t>
            </a:r>
          </a:p>
          <a:p>
            <a:r>
              <a:rPr lang="ru-RU" b="1" dirty="0"/>
              <a:t>Идея</a:t>
            </a:r>
            <a:r>
              <a:rPr lang="ru-RU" dirty="0"/>
              <a:t> алгоритма: </a:t>
            </a:r>
            <a:br>
              <a:rPr lang="ru-RU" dirty="0"/>
            </a:br>
            <a:r>
              <a:rPr lang="ru-RU" dirty="0"/>
              <a:t>Если есть ориентированный путь </a:t>
            </a:r>
            <a:r>
              <a:rPr lang="ru-RU" b="1" dirty="0"/>
              <a:t>из </a:t>
            </a:r>
            <a:r>
              <a:rPr lang="en-US" b="1" dirty="0"/>
              <a:t>s</a:t>
            </a:r>
            <a:r>
              <a:rPr lang="ru-RU" b="1" dirty="0"/>
              <a:t> в </a:t>
            </a:r>
            <a:r>
              <a:rPr lang="en-US" b="1" dirty="0" err="1"/>
              <a:t>i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/>
              <a:t>из </a:t>
            </a:r>
            <a:r>
              <a:rPr lang="en-US" b="1" dirty="0" err="1"/>
              <a:t>i</a:t>
            </a:r>
            <a:r>
              <a:rPr lang="ru-RU" b="1" dirty="0"/>
              <a:t> в </a:t>
            </a:r>
            <a:r>
              <a:rPr lang="en-US" b="1" dirty="0"/>
              <a:t>t</a:t>
            </a:r>
            <a:r>
              <a:rPr lang="ru-RU" dirty="0"/>
              <a:t>, то есть путь и </a:t>
            </a:r>
            <a:r>
              <a:rPr lang="ru-RU" b="1" dirty="0"/>
              <a:t>из</a:t>
            </a:r>
            <a:r>
              <a:rPr lang="ru-RU" dirty="0"/>
              <a:t> </a:t>
            </a:r>
            <a:r>
              <a:rPr lang="en-US" b="1" dirty="0"/>
              <a:t>s</a:t>
            </a:r>
            <a:r>
              <a:rPr lang="ru-RU" b="1" dirty="0"/>
              <a:t> в </a:t>
            </a:r>
            <a:r>
              <a:rPr lang="en-US" b="1" dirty="0"/>
              <a:t>t</a:t>
            </a:r>
            <a:r>
              <a:rPr lang="ru-RU" b="1" dirty="0"/>
              <a:t> </a:t>
            </a:r>
            <a:r>
              <a:rPr lang="ru-RU" dirty="0"/>
              <a:t>(за 2 шага)</a:t>
            </a:r>
          </a:p>
          <a:p>
            <a:r>
              <a:rPr lang="ru-RU" dirty="0"/>
              <a:t>На основании найденных ранее путей можно строить пути </a:t>
            </a:r>
            <a:r>
              <a:rPr lang="ru-RU" b="1" dirty="0"/>
              <a:t>произвольной длины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5767" y="4283574"/>
            <a:ext cx="2550033" cy="223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97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43888"/>
          </a:xfrm>
        </p:spPr>
        <p:txBody>
          <a:bodyPr>
            <a:normAutofit/>
          </a:bodyPr>
          <a:lstStyle/>
          <a:p>
            <a:r>
              <a:rPr lang="ru-RU" dirty="0"/>
              <a:t>Первая строка </a:t>
            </a:r>
            <a:r>
              <a:rPr lang="en-US" dirty="0"/>
              <a:t>A: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0025" y="1825626"/>
            <a:ext cx="2010562" cy="1904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88408" y="1609345"/>
            <a:ext cx="5550408" cy="483717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ячейке С – единица, т.е. существует путь </a:t>
            </a:r>
            <a:r>
              <a:rPr lang="ru-RU" b="1" dirty="0"/>
              <a:t>от A к C</a:t>
            </a:r>
          </a:p>
          <a:p>
            <a:r>
              <a:rPr lang="ru-RU" dirty="0"/>
              <a:t>Если бы существовал путь от другой вершины </a:t>
            </a:r>
            <a:r>
              <a:rPr lang="ru-RU" b="1" dirty="0"/>
              <a:t>X к A</a:t>
            </a:r>
            <a:r>
              <a:rPr lang="ru-RU" dirty="0"/>
              <a:t>, то существовал бы и  путь </a:t>
            </a:r>
            <a:r>
              <a:rPr lang="ru-RU" b="1" dirty="0"/>
              <a:t>от X к C</a:t>
            </a:r>
          </a:p>
          <a:p>
            <a:r>
              <a:rPr lang="ru-RU" dirty="0"/>
              <a:t>Какие рёбра графа заканчиваются в вершине A (и есть ли они?)? – см. </a:t>
            </a:r>
            <a:r>
              <a:rPr lang="ru-RU" b="1" dirty="0"/>
              <a:t>столбец A</a:t>
            </a:r>
            <a:r>
              <a:rPr lang="ru-RU" dirty="0"/>
              <a:t> – есть одна единица в строке B, т.е. существует ребро </a:t>
            </a:r>
            <a:br>
              <a:rPr lang="ru-RU" dirty="0"/>
            </a:br>
            <a:r>
              <a:rPr lang="ru-RU" b="1" dirty="0"/>
              <a:t>от B к A</a:t>
            </a:r>
          </a:p>
          <a:p>
            <a:r>
              <a:rPr lang="ru-RU" dirty="0"/>
              <a:t>Значит, существуют пути </a:t>
            </a:r>
            <a:r>
              <a:rPr lang="ru-RU" b="1" dirty="0"/>
              <a:t>от B к A </a:t>
            </a:r>
            <a:r>
              <a:rPr lang="ru-RU" dirty="0"/>
              <a:t>и </a:t>
            </a:r>
            <a:r>
              <a:rPr lang="ru-RU" b="1" dirty="0"/>
              <a:t>от A к C</a:t>
            </a:r>
            <a:r>
              <a:rPr lang="ru-RU" dirty="0"/>
              <a:t>. Тогда </a:t>
            </a:r>
            <a:r>
              <a:rPr lang="ru-RU" b="1" dirty="0"/>
              <a:t>от B к C </a:t>
            </a:r>
            <a:r>
              <a:rPr lang="ru-RU" dirty="0"/>
              <a:t>можно перейти за 2 шага</a:t>
            </a:r>
          </a:p>
          <a:p>
            <a:r>
              <a:rPr lang="ru-RU" dirty="0"/>
              <a:t>Сохранение результата: 1 на пересечении строки B и столбца C.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3581" y="4146978"/>
            <a:ext cx="2507006" cy="2111710"/>
          </a:xfrm>
          <a:prstGeom prst="rect">
            <a:avLst/>
          </a:prstGeom>
        </p:spPr>
      </p:pic>
      <p:cxnSp>
        <p:nvCxnSpPr>
          <p:cNvPr id="10" name="Прямая со стрелкой 9"/>
          <p:cNvCxnSpPr/>
          <p:nvPr/>
        </p:nvCxnSpPr>
        <p:spPr>
          <a:xfrm flipH="1">
            <a:off x="2821344" y="2128772"/>
            <a:ext cx="411480" cy="12984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647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Строки В, С, </a:t>
            </a:r>
            <a:r>
              <a:rPr lang="en-US" dirty="0"/>
              <a:t>D: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2049" y="2045082"/>
            <a:ext cx="1972360" cy="1868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327904" y="1825625"/>
            <a:ext cx="4928616" cy="461175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Столбец A содержит 1, указывая на существование ребра </a:t>
            </a:r>
            <a:r>
              <a:rPr lang="ru-RU" b="1" dirty="0"/>
              <a:t>от B к A</a:t>
            </a:r>
          </a:p>
          <a:p>
            <a:r>
              <a:rPr lang="ru-RU" dirty="0"/>
              <a:t>Но существуют ли другие рёбра, заканчивающиеся в B?</a:t>
            </a:r>
          </a:p>
          <a:p>
            <a:r>
              <a:rPr lang="ru-RU" b="1" dirty="0"/>
              <a:t>Столбец B</a:t>
            </a:r>
            <a:r>
              <a:rPr lang="ru-RU" dirty="0"/>
              <a:t> пуст (ни одно ребро не заканчивается в B), значит ни одна из единиц в строке B не приведет к обнаружению более длинного пути</a:t>
            </a:r>
          </a:p>
          <a:p>
            <a:r>
              <a:rPr lang="ru-RU" dirty="0"/>
              <a:t>В строке C нет единиц</a:t>
            </a:r>
          </a:p>
          <a:p>
            <a:r>
              <a:rPr lang="ru-RU" dirty="0"/>
              <a:t>В строке D есть ребро </a:t>
            </a:r>
            <a:r>
              <a:rPr lang="ru-RU" b="1" dirty="0"/>
              <a:t>от D к Е</a:t>
            </a:r>
            <a:r>
              <a:rPr lang="ru-RU" dirty="0"/>
              <a:t>, но столбец D пуст, значит рёбер в D не существует.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996184" y="2313432"/>
            <a:ext cx="411480" cy="1298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3199" y="4219393"/>
            <a:ext cx="2531745" cy="221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50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70482"/>
          </a:xfrm>
        </p:spPr>
        <p:txBody>
          <a:bodyPr>
            <a:normAutofit/>
          </a:bodyPr>
          <a:lstStyle/>
          <a:p>
            <a:r>
              <a:rPr lang="ru-RU" dirty="0"/>
              <a:t>Строка Е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9070" y="1790036"/>
            <a:ext cx="1959987" cy="1856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94030" y="1737993"/>
            <a:ext cx="5306647" cy="475488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строке Е есть ребро </a:t>
            </a:r>
            <a:r>
              <a:rPr lang="ru-RU" b="1" dirty="0"/>
              <a:t>от Е к C</a:t>
            </a:r>
          </a:p>
          <a:p>
            <a:r>
              <a:rPr lang="ru-RU" dirty="0"/>
              <a:t>В столбце Е есть ребро </a:t>
            </a:r>
            <a:r>
              <a:rPr lang="ru-RU" b="1" dirty="0"/>
              <a:t>от B к Е</a:t>
            </a:r>
            <a:r>
              <a:rPr lang="ru-RU" dirty="0"/>
              <a:t>, т.е. существует путь </a:t>
            </a:r>
            <a:r>
              <a:rPr lang="ru-RU" b="1" dirty="0"/>
              <a:t>от B к C</a:t>
            </a:r>
          </a:p>
          <a:p>
            <a:r>
              <a:rPr lang="ru-RU" dirty="0"/>
              <a:t>Однако этот путь уже был обнаружен ранее (есть 1 в соответствующей ячейке таблицы)</a:t>
            </a:r>
          </a:p>
          <a:p>
            <a:r>
              <a:rPr lang="ru-RU" dirty="0"/>
              <a:t>В столбце Е также есть ребро </a:t>
            </a:r>
            <a:r>
              <a:rPr lang="ru-RU" b="1" dirty="0"/>
              <a:t>от D к Е</a:t>
            </a:r>
            <a:endParaRPr lang="ru-RU" dirty="0"/>
          </a:p>
          <a:p>
            <a:r>
              <a:rPr lang="ru-RU" dirty="0"/>
              <a:t>Пути </a:t>
            </a:r>
            <a:r>
              <a:rPr lang="ru-RU" b="1" dirty="0"/>
              <a:t>от D к Е </a:t>
            </a:r>
            <a:r>
              <a:rPr lang="ru-RU" dirty="0"/>
              <a:t>и </a:t>
            </a:r>
            <a:r>
              <a:rPr lang="ru-RU" b="1" dirty="0"/>
              <a:t>от Е к C </a:t>
            </a:r>
            <a:r>
              <a:rPr lang="ru-RU" dirty="0"/>
              <a:t>образуют путь </a:t>
            </a:r>
            <a:r>
              <a:rPr lang="ru-RU" b="1" dirty="0"/>
              <a:t>от D к C</a:t>
            </a:r>
            <a:r>
              <a:rPr lang="ru-RU" dirty="0"/>
              <a:t>, в эту ячейку ставится 1.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288" y="4001294"/>
            <a:ext cx="2515183" cy="2155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Прямая со стрелкой 9"/>
          <p:cNvCxnSpPr/>
          <p:nvPr/>
        </p:nvCxnSpPr>
        <p:spPr>
          <a:xfrm flipH="1">
            <a:off x="2846602" y="2590939"/>
            <a:ext cx="1060704" cy="8215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C5399B5-D303-40E2-B95F-238532231EAE}"/>
              </a:ext>
            </a:extLst>
          </p:cNvPr>
          <p:cNvCxnSpPr/>
          <p:nvPr/>
        </p:nvCxnSpPr>
        <p:spPr>
          <a:xfrm flipH="1">
            <a:off x="2770692" y="2053597"/>
            <a:ext cx="411480" cy="1298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32228"/>
          </a:xfrm>
        </p:spPr>
        <p:txBody>
          <a:bodyPr/>
          <a:lstStyle/>
          <a:p>
            <a:r>
              <a:rPr lang="ru-RU" dirty="0"/>
              <a:t>Результат:</a:t>
            </a:r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1109" y="4103117"/>
            <a:ext cx="2465782" cy="2160194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030620" y="1825625"/>
            <a:ext cx="5289908" cy="4351338"/>
          </a:xfrm>
        </p:spPr>
        <p:txBody>
          <a:bodyPr>
            <a:normAutofit/>
          </a:bodyPr>
          <a:lstStyle/>
          <a:p>
            <a:r>
              <a:rPr lang="ru-RU" dirty="0"/>
              <a:t>В матрицу смежности были добавлены две единицы</a:t>
            </a:r>
          </a:p>
          <a:p>
            <a:r>
              <a:rPr lang="ru-RU" dirty="0"/>
              <a:t>Измененная матрица показывает, к каким узлам можно перейти от другого узла за любое количество шагов</a:t>
            </a:r>
          </a:p>
          <a:p>
            <a:r>
              <a:rPr lang="ru-RU" dirty="0"/>
              <a:t>Граф на основе новой матрицы – это и есть </a:t>
            </a:r>
            <a:r>
              <a:rPr lang="ru-RU" b="1" dirty="0"/>
              <a:t>транзитивное замыкание </a:t>
            </a:r>
            <a:r>
              <a:rPr lang="ru-RU" dirty="0"/>
              <a:t>исходного орграфа</a:t>
            </a:r>
          </a:p>
          <a:p>
            <a:r>
              <a:rPr lang="ru-RU" dirty="0"/>
              <a:t>Программная реализация.    →</a:t>
            </a: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4125" y="1690690"/>
            <a:ext cx="1972360" cy="1868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3058260" y="1959040"/>
            <a:ext cx="411480" cy="1298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3124200" y="2502917"/>
            <a:ext cx="1060704" cy="8215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508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Дизъюнктивное объединение строк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5874" y="2723093"/>
            <a:ext cx="2229161" cy="1952898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53150" y="1892809"/>
            <a:ext cx="4213098" cy="463600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Аналогичный результат можно получить с помощью дизъюнктивного объединения строк</a:t>
            </a:r>
          </a:p>
          <a:p>
            <a:r>
              <a:rPr lang="ru-RU" u="sng" dirty="0"/>
              <a:t>В текущей строке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Игнорируются</a:t>
            </a:r>
            <a:r>
              <a:rPr lang="ru-RU" dirty="0"/>
              <a:t> диагональные и нулевые ячейки</a:t>
            </a:r>
          </a:p>
          <a:p>
            <a:pPr lvl="1"/>
            <a:r>
              <a:rPr lang="ru-RU" b="1" dirty="0"/>
              <a:t>Второй индекс </a:t>
            </a:r>
            <a:r>
              <a:rPr lang="ru-RU" dirty="0"/>
              <a:t>ненулевой ячейки – это номер строки, с которой нужно осуществить </a:t>
            </a:r>
            <a:r>
              <a:rPr lang="ru-RU" b="1" dirty="0"/>
              <a:t>дизъюнктивное объединение </a:t>
            </a:r>
            <a:r>
              <a:rPr lang="ru-RU" dirty="0"/>
              <a:t>текущей строки.</a:t>
            </a:r>
          </a:p>
        </p:txBody>
      </p:sp>
      <p:pic>
        <p:nvPicPr>
          <p:cNvPr id="5" name="Объект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2897" y="2723094"/>
            <a:ext cx="2229161" cy="195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63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99686" y="374904"/>
            <a:ext cx="7886700" cy="759586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алгоритма Уоршелла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3494" y="1402841"/>
            <a:ext cx="3686175" cy="952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53150" y="1600200"/>
            <a:ext cx="4176522" cy="4946904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Внешним циклом </a:t>
            </a:r>
            <a:r>
              <a:rPr lang="ru-RU" dirty="0"/>
              <a:t>перебираем вершины, которые могут быть </a:t>
            </a:r>
            <a:r>
              <a:rPr lang="ru-RU" b="1" dirty="0"/>
              <a:t>промежуточными</a:t>
            </a:r>
            <a:r>
              <a:rPr lang="ru-RU" dirty="0"/>
              <a:t> (транзитными)</a:t>
            </a:r>
          </a:p>
          <a:p>
            <a:r>
              <a:rPr lang="ru-RU" b="1" dirty="0"/>
              <a:t>Средним циклом </a:t>
            </a:r>
            <a:r>
              <a:rPr lang="ru-RU" dirty="0"/>
              <a:t>перебираем вершины, которые могут быть </a:t>
            </a:r>
            <a:r>
              <a:rPr lang="ru-RU" b="1" dirty="0"/>
              <a:t>начальными</a:t>
            </a:r>
            <a:r>
              <a:rPr lang="ru-RU" dirty="0"/>
              <a:t> в 2-шагового пути</a:t>
            </a:r>
          </a:p>
          <a:p>
            <a:r>
              <a:rPr lang="ru-RU" b="1" dirty="0"/>
              <a:t>Внутренним циклом </a:t>
            </a:r>
            <a:r>
              <a:rPr lang="ru-RU" dirty="0"/>
              <a:t>перебираем вершины, которые могут быть </a:t>
            </a:r>
            <a:r>
              <a:rPr lang="ru-RU" b="1" dirty="0"/>
              <a:t>конечными</a:t>
            </a:r>
            <a:r>
              <a:rPr lang="ru-RU" dirty="0"/>
              <a:t> в 2-шагового пути</a:t>
            </a:r>
          </a:p>
          <a:p>
            <a:r>
              <a:rPr lang="ru-RU" dirty="0"/>
              <a:t>Наличие ребра между начальной и транзитной вершинами и ребра между транзитной и конечной вершинами позволяет сделать </a:t>
            </a:r>
            <a:r>
              <a:rPr lang="ru-RU" b="1" dirty="0"/>
              <a:t>вывод о наличии 2-шагового пути </a:t>
            </a:r>
            <a:r>
              <a:rPr lang="ru-RU" dirty="0"/>
              <a:t>между начальной и конечной вершиной.</a:t>
            </a:r>
          </a:p>
        </p:txBody>
      </p:sp>
      <p:pic>
        <p:nvPicPr>
          <p:cNvPr id="6" name="Объект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44026" y="2587688"/>
            <a:ext cx="2155643" cy="188849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1830" y="2587688"/>
            <a:ext cx="2155644" cy="1888491"/>
          </a:xfrm>
          <a:prstGeom prst="rect">
            <a:avLst/>
          </a:prstGeom>
        </p:spPr>
      </p:pic>
      <p:pic>
        <p:nvPicPr>
          <p:cNvPr id="8" name="Объект 5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0966" y="4678554"/>
            <a:ext cx="1972360" cy="1868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Прямая со стрелкой 8"/>
          <p:cNvCxnSpPr/>
          <p:nvPr/>
        </p:nvCxnSpPr>
        <p:spPr>
          <a:xfrm flipH="1">
            <a:off x="3545101" y="4946904"/>
            <a:ext cx="411480" cy="12984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>
            <a:off x="3611041" y="5490781"/>
            <a:ext cx="1060704" cy="8215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495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3332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поиска кратчайшего пути на графе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925" y="2147968"/>
            <a:ext cx="3926157" cy="2712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843272" y="1472184"/>
            <a:ext cx="5468112" cy="507492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Наиболее распространённая задача на </a:t>
            </a:r>
            <a:r>
              <a:rPr lang="ru-RU" b="1" dirty="0"/>
              <a:t>взвешенных графах</a:t>
            </a:r>
          </a:p>
          <a:p>
            <a:r>
              <a:rPr lang="ru-RU" dirty="0"/>
              <a:t>Задача находит практическое применение во множестве предметных областей</a:t>
            </a:r>
          </a:p>
          <a:p>
            <a:r>
              <a:rPr lang="ru-RU" u="sng" dirty="0"/>
              <a:t>Пример</a:t>
            </a:r>
            <a:r>
              <a:rPr lang="ru-RU" dirty="0"/>
              <a:t> – железная дорога: какой маршрут будет </a:t>
            </a:r>
            <a:r>
              <a:rPr lang="ru-RU" b="1" dirty="0"/>
              <a:t>самым экономичным </a:t>
            </a:r>
            <a:r>
              <a:rPr lang="ru-RU" dirty="0"/>
              <a:t>для заданных начальной и конечной станций (например, </a:t>
            </a:r>
            <a:r>
              <a:rPr lang="ru-RU" b="1" dirty="0"/>
              <a:t>из А в Е</a:t>
            </a:r>
            <a:r>
              <a:rPr lang="ru-RU" dirty="0"/>
              <a:t>)?</a:t>
            </a:r>
          </a:p>
          <a:p>
            <a:r>
              <a:rPr lang="ru-RU" dirty="0"/>
              <a:t>«</a:t>
            </a:r>
            <a:r>
              <a:rPr lang="ru-RU" b="1" dirty="0"/>
              <a:t>Кратчайший</a:t>
            </a:r>
            <a:r>
              <a:rPr lang="ru-RU" dirty="0"/>
              <a:t>» - самый </a:t>
            </a:r>
            <a:r>
              <a:rPr lang="ru-RU" b="1" dirty="0"/>
              <a:t>оптимальный</a:t>
            </a:r>
            <a:r>
              <a:rPr lang="ru-RU" dirty="0"/>
              <a:t> по какой-либо характеристике маршрут</a:t>
            </a:r>
          </a:p>
          <a:p>
            <a:r>
              <a:rPr lang="ru-RU" dirty="0"/>
              <a:t>Возможные </a:t>
            </a:r>
            <a:r>
              <a:rPr lang="ru-RU" u="sng" dirty="0"/>
              <a:t>решения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                   →</a:t>
            </a:r>
          </a:p>
          <a:p>
            <a:pPr lvl="1"/>
            <a:r>
              <a:rPr lang="ru-RU" dirty="0"/>
              <a:t>Алгоритм </a:t>
            </a:r>
            <a:r>
              <a:rPr lang="ru-RU" dirty="0" err="1"/>
              <a:t>Флойда</a:t>
            </a:r>
            <a:r>
              <a:rPr lang="ru-RU" dirty="0"/>
              <a:t>-Уоршелла</a:t>
            </a:r>
          </a:p>
          <a:p>
            <a:pPr lvl="1"/>
            <a:r>
              <a:rPr lang="ru-RU" dirty="0"/>
              <a:t>Алгоритм Беллмана-Форда и др.</a:t>
            </a:r>
          </a:p>
        </p:txBody>
      </p:sp>
    </p:spTree>
    <p:extLst>
      <p:ext uri="{BB962C8B-B14F-4D97-AF65-F5344CB8AC3E}">
        <p14:creationId xmlns:p14="http://schemas.microsoft.com/office/powerpoint/2010/main" val="3303127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8"/>
            <a:ext cx="7886700" cy="729027"/>
          </a:xfrm>
        </p:spPr>
        <p:txBody>
          <a:bodyPr>
            <a:normAutofit/>
          </a:bodyPr>
          <a:lstStyle/>
          <a:p>
            <a:r>
              <a:rPr lang="ru-RU" sz="3800" dirty="0"/>
              <a:t>Алгоритм </a:t>
            </a:r>
            <a:r>
              <a:rPr lang="ru-RU" sz="3800" dirty="0" err="1"/>
              <a:t>Дейкстры</a:t>
            </a:r>
            <a:endParaRPr lang="ru-RU" sz="38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548" y="1690690"/>
            <a:ext cx="2011680" cy="26808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40035" y="1227015"/>
            <a:ext cx="4968552" cy="5265858"/>
          </a:xfrm>
        </p:spPr>
        <p:txBody>
          <a:bodyPr>
            <a:noAutofit/>
          </a:bodyPr>
          <a:lstStyle/>
          <a:p>
            <a:pPr marL="177800" indent="-177800">
              <a:spcBef>
                <a:spcPts val="0"/>
              </a:spcBef>
            </a:pPr>
            <a:r>
              <a:rPr lang="ru-RU" sz="2400" dirty="0"/>
              <a:t>Предложен в 1959 г.</a:t>
            </a:r>
          </a:p>
          <a:p>
            <a:pPr marL="177800" indent="-177800">
              <a:spcBef>
                <a:spcPts val="0"/>
              </a:spcBef>
            </a:pPr>
            <a:r>
              <a:rPr lang="ru-RU" sz="2400" dirty="0"/>
              <a:t>Предназначен для поиска кратчайшего пути </a:t>
            </a:r>
            <a:r>
              <a:rPr lang="ru-RU" sz="2400" b="1" dirty="0"/>
              <a:t>в ориентированном взвешенном графе</a:t>
            </a:r>
            <a:r>
              <a:rPr lang="ru-RU" sz="2400" dirty="0"/>
              <a:t>, при условии, что все ребра в графе имеют </a:t>
            </a:r>
            <a:r>
              <a:rPr lang="ru-RU" sz="2400" b="1" dirty="0"/>
              <a:t>неотрицательные веса</a:t>
            </a:r>
          </a:p>
          <a:p>
            <a:pPr marL="177800" indent="-177800">
              <a:spcBef>
                <a:spcPts val="0"/>
              </a:spcBef>
            </a:pPr>
            <a:r>
              <a:rPr lang="ru-RU" sz="2400" dirty="0"/>
              <a:t>Позволяет находить кратчайший путь не только от одной заданной вершины к другой, но и </a:t>
            </a:r>
            <a:r>
              <a:rPr lang="ru-RU" sz="2400" b="1" dirty="0"/>
              <a:t>ко всем остальным</a:t>
            </a:r>
            <a:r>
              <a:rPr lang="ru-RU" sz="2400" dirty="0"/>
              <a:t> вершинам</a:t>
            </a:r>
          </a:p>
          <a:p>
            <a:pPr marL="177800" indent="-177800">
              <a:spcBef>
                <a:spcPts val="0"/>
              </a:spcBef>
            </a:pPr>
            <a:r>
              <a:rPr lang="ru-RU" sz="2400" b="1" dirty="0"/>
              <a:t>Широко применяется </a:t>
            </a:r>
            <a:r>
              <a:rPr lang="ru-RU" sz="2400" dirty="0"/>
              <a:t>в программировании и технологиях, например, в протоколах маршрутизации.</a:t>
            </a:r>
          </a:p>
          <a:p>
            <a:pPr marL="177800" indent="-177800">
              <a:spcBef>
                <a:spcPts val="0"/>
              </a:spcBef>
            </a:pPr>
            <a:endParaRPr lang="ru-RU" sz="24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24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847528" y="4653136"/>
            <a:ext cx="3528392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700" b="1" dirty="0" err="1"/>
              <a:t>Эдсгер</a:t>
            </a:r>
            <a:r>
              <a:rPr lang="ru-RU" sz="1700" b="1" dirty="0"/>
              <a:t> </a:t>
            </a:r>
            <a:r>
              <a:rPr lang="ru-RU" sz="1700" b="1" dirty="0" err="1"/>
              <a:t>Вибе</a:t>
            </a:r>
            <a:r>
              <a:rPr lang="ru-RU" sz="1700" b="1" dirty="0"/>
              <a:t> </a:t>
            </a:r>
            <a:r>
              <a:rPr lang="ru-RU" sz="1700" b="1" dirty="0" err="1"/>
              <a:t>Дейкстра</a:t>
            </a:r>
            <a:r>
              <a:rPr lang="ru-RU" sz="1700" b="1" dirty="0"/>
              <a:t> </a:t>
            </a:r>
            <a:r>
              <a:rPr lang="ru-RU" sz="1700" dirty="0"/>
              <a:t>(1930-2002) – нидерландский ученый в области информатики, разработчик концепции структурного программирования, исследователь формальной верификации и распределенных вычислений</a:t>
            </a:r>
          </a:p>
        </p:txBody>
      </p:sp>
    </p:spTree>
    <p:extLst>
      <p:ext uri="{BB962C8B-B14F-4D97-AF65-F5344CB8AC3E}">
        <p14:creationId xmlns:p14="http://schemas.microsoft.com/office/powerpoint/2010/main" val="272115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8"/>
            <a:ext cx="7886700" cy="783735"/>
          </a:xfrm>
        </p:spPr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640" y="1594136"/>
            <a:ext cx="2569464" cy="2569464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54954" y="1352062"/>
            <a:ext cx="5319854" cy="5112746"/>
          </a:xfrm>
        </p:spPr>
        <p:txBody>
          <a:bodyPr>
            <a:normAutofit fontScale="92500" lnSpcReduction="10000"/>
          </a:bodyPr>
          <a:lstStyle/>
          <a:p>
            <a:r>
              <a:rPr lang="ru-RU" u="sng" dirty="0"/>
              <a:t>Варианты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Найти </a:t>
            </a:r>
            <a:r>
              <a:rPr lang="ru-RU" b="1" dirty="0"/>
              <a:t>кратчайшие пути </a:t>
            </a:r>
            <a:r>
              <a:rPr lang="ru-RU" dirty="0"/>
              <a:t>из текущего города до других городов</a:t>
            </a:r>
          </a:p>
          <a:p>
            <a:pPr lvl="1"/>
            <a:r>
              <a:rPr lang="ru-RU" dirty="0"/>
              <a:t>Найти маршрут </a:t>
            </a:r>
            <a:r>
              <a:rPr lang="ru-RU" b="1" dirty="0"/>
              <a:t>минимальной стоимости</a:t>
            </a:r>
          </a:p>
          <a:p>
            <a:r>
              <a:rPr lang="ru-RU" dirty="0"/>
              <a:t>Орграф представлен в виде </a:t>
            </a:r>
            <a:r>
              <a:rPr lang="ru-RU" b="1" dirty="0" err="1"/>
              <a:t>небинарной</a:t>
            </a:r>
            <a:r>
              <a:rPr lang="ru-RU" dirty="0"/>
              <a:t> </a:t>
            </a:r>
            <a:r>
              <a:rPr lang="ru-RU" b="1" dirty="0"/>
              <a:t>матрицы смежности</a:t>
            </a:r>
            <a:endParaRPr lang="ru-RU" dirty="0"/>
          </a:p>
          <a:p>
            <a:r>
              <a:rPr lang="ru-RU" dirty="0"/>
              <a:t>Формальное</a:t>
            </a:r>
            <a:r>
              <a:rPr lang="ru-RU" u="sng" dirty="0"/>
              <a:t> определение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Дан взвешенный ориентированный граф G(V,E) </a:t>
            </a:r>
            <a:r>
              <a:rPr lang="ru-RU" b="1" dirty="0"/>
              <a:t>без дуг отрицательного веса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Найти </a:t>
            </a:r>
            <a:r>
              <a:rPr lang="ru-RU" b="1" dirty="0"/>
              <a:t>кратчайшие пути </a:t>
            </a:r>
            <a:r>
              <a:rPr lang="ru-RU" dirty="0"/>
              <a:t>от некоторой вершины </a:t>
            </a:r>
            <a:r>
              <a:rPr lang="ru-RU" b="1" i="1" dirty="0"/>
              <a:t>a</a:t>
            </a:r>
            <a:r>
              <a:rPr lang="ru-RU" dirty="0"/>
              <a:t> графа G (источник) до всех остальных вершин этого графа.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3076" y="4209865"/>
            <a:ext cx="2484592" cy="170649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F5034F-A636-4D20-8AF2-96067050C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9986" y="1440004"/>
            <a:ext cx="285790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60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36232"/>
            <a:ext cx="7886700" cy="705581"/>
          </a:xfrm>
        </p:spPr>
        <p:txBody>
          <a:bodyPr/>
          <a:lstStyle/>
          <a:p>
            <a:r>
              <a:rPr lang="ru-RU" dirty="0"/>
              <a:t>Шаг 0 – Инициализация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82" y="1591850"/>
            <a:ext cx="4517344" cy="4517344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39139" y="1266094"/>
            <a:ext cx="5976503" cy="5179255"/>
          </a:xfrm>
        </p:spPr>
        <p:txBody>
          <a:bodyPr>
            <a:noAutofit/>
          </a:bodyPr>
          <a:lstStyle/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Каждой вершине из </a:t>
            </a:r>
            <a:r>
              <a:rPr lang="ru-RU" sz="2300" b="1" i="1" dirty="0"/>
              <a:t>V</a:t>
            </a:r>
            <a:r>
              <a:rPr lang="ru-RU" sz="2300" dirty="0"/>
              <a:t> сопоставим </a:t>
            </a:r>
            <a:r>
              <a:rPr lang="ru-RU" sz="2300" b="1" dirty="0"/>
              <a:t>временную метку</a:t>
            </a:r>
            <a:r>
              <a:rPr lang="ru-RU" sz="2300" dirty="0"/>
              <a:t> — минимальное известное расстояние до этой вершины из </a:t>
            </a:r>
            <a:r>
              <a:rPr lang="ru-RU" sz="2300" b="1" i="1" dirty="0"/>
              <a:t>a</a:t>
            </a:r>
            <a:endParaRPr lang="ru-RU" sz="2300" dirty="0"/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Метка самой вершины </a:t>
            </a:r>
            <a:r>
              <a:rPr lang="ru-RU" sz="2300" b="1" i="1" dirty="0"/>
              <a:t>a</a:t>
            </a:r>
            <a:r>
              <a:rPr lang="ru-RU" sz="2300" dirty="0"/>
              <a:t> (вершина 1) полагается равной </a:t>
            </a:r>
            <a:r>
              <a:rPr lang="ru-RU" sz="2300" b="1" dirty="0"/>
              <a:t>0</a:t>
            </a:r>
            <a:r>
              <a:rPr lang="ru-RU" sz="2300" dirty="0"/>
              <a:t> (</a:t>
            </a:r>
            <a:r>
              <a:rPr lang="ru-RU" sz="2300" b="1" dirty="0"/>
              <a:t>источник</a:t>
            </a:r>
            <a:r>
              <a:rPr lang="ru-RU" sz="2300" dirty="0"/>
              <a:t>), метки остальных вершин — </a:t>
            </a:r>
            <a:r>
              <a:rPr lang="ru-RU" sz="2300" b="1" dirty="0"/>
              <a:t>бесконечности </a:t>
            </a:r>
            <a:r>
              <a:rPr lang="ru-RU" sz="2300" dirty="0"/>
              <a:t>(т.е. расстояния от </a:t>
            </a:r>
            <a:r>
              <a:rPr lang="ru-RU" sz="2300" b="1" i="1" dirty="0"/>
              <a:t>a</a:t>
            </a:r>
            <a:r>
              <a:rPr lang="ru-RU" sz="2300" dirty="0"/>
              <a:t> до других вершин пока неизвестны)</a:t>
            </a:r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Все вершины графа помечаются как </a:t>
            </a:r>
            <a:r>
              <a:rPr lang="ru-RU" sz="2300" b="1" dirty="0" err="1"/>
              <a:t>непосещённые</a:t>
            </a:r>
            <a:endParaRPr lang="ru-RU" sz="2300" dirty="0"/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Далее алгоритм работает пошагово — на каждом шаге он посещает одну вершину и </a:t>
            </a:r>
            <a:r>
              <a:rPr lang="ru-RU" sz="2300" b="1" dirty="0"/>
              <a:t>пытается уменьшать метки</a:t>
            </a:r>
            <a:endParaRPr lang="ru-RU" sz="2300" dirty="0"/>
          </a:p>
          <a:p>
            <a:pPr>
              <a:lnSpc>
                <a:spcPct val="75000"/>
              </a:lnSpc>
              <a:spcBef>
                <a:spcPts val="600"/>
              </a:spcBef>
            </a:pPr>
            <a:r>
              <a:rPr lang="ru-RU" sz="2300" dirty="0"/>
              <a:t>Работа алгоритма завершается, когда </a:t>
            </a:r>
            <a:r>
              <a:rPr lang="ru-RU" sz="2300" b="1" dirty="0"/>
              <a:t>все вершины посещены</a:t>
            </a:r>
            <a:r>
              <a:rPr lang="ru-RU" sz="2300" dirty="0"/>
              <a:t> (иначе из ещё не посещённых вершин выбирается вершина, имеющая минимальную метку).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4A0FB5-9955-4643-BCD0-02619192F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197" y="1719237"/>
            <a:ext cx="285790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35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854074"/>
          </a:xfrm>
        </p:spPr>
        <p:txBody>
          <a:bodyPr/>
          <a:lstStyle/>
          <a:p>
            <a:r>
              <a:rPr lang="ru-RU" dirty="0"/>
              <a:t>Шаг 1.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6" y="1501031"/>
            <a:ext cx="4131176" cy="4131176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01662" y="1156678"/>
            <a:ext cx="5939692" cy="545513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Выберем текущую вершину </a:t>
            </a:r>
            <a:r>
              <a:rPr lang="ru-RU" b="1" dirty="0"/>
              <a:t>W</a:t>
            </a:r>
            <a:r>
              <a:rPr lang="ru-RU" dirty="0"/>
              <a:t>, которая имеет </a:t>
            </a:r>
            <a:r>
              <a:rPr lang="ru-RU" b="1" dirty="0"/>
              <a:t>минимальную метку </a:t>
            </a:r>
            <a:r>
              <a:rPr lang="ru-RU" dirty="0"/>
              <a:t>(сейчас это вершина 1)</a:t>
            </a:r>
          </a:p>
          <a:p>
            <a:r>
              <a:rPr lang="ru-RU" dirty="0"/>
              <a:t>Рассмотрим все вершины, в которые из W есть путь </a:t>
            </a:r>
            <a:r>
              <a:rPr lang="ru-RU" b="1" dirty="0"/>
              <a:t>без посредников </a:t>
            </a:r>
            <a:r>
              <a:rPr lang="ru-RU" dirty="0"/>
              <a:t>(2, 3, 4, 5)</a:t>
            </a:r>
          </a:p>
          <a:p>
            <a:r>
              <a:rPr lang="ru-RU" dirty="0"/>
              <a:t>Каждой из них назначим метку, равную сумме метки W и длины пути из W в рассматриваемую вершину, </a:t>
            </a:r>
            <a:r>
              <a:rPr lang="ru-RU" b="1" dirty="0"/>
              <a:t>но</a:t>
            </a:r>
          </a:p>
          <a:p>
            <a:r>
              <a:rPr lang="ru-RU" dirty="0"/>
              <a:t>Но </a:t>
            </a:r>
            <a:r>
              <a:rPr lang="ru-RU" b="1" dirty="0"/>
              <a:t>только в том случае</a:t>
            </a:r>
            <a:r>
              <a:rPr lang="ru-RU" dirty="0"/>
              <a:t>, если полученная сумма будет </a:t>
            </a:r>
            <a:r>
              <a:rPr lang="ru-RU" b="1" dirty="0"/>
              <a:t>меньше предыдущего значения </a:t>
            </a:r>
            <a:r>
              <a:rPr lang="ru-RU" dirty="0"/>
              <a:t>метки</a:t>
            </a:r>
          </a:p>
          <a:p>
            <a:r>
              <a:rPr lang="ru-RU" dirty="0"/>
              <a:t>Если сумма не будет меньше, то оставляем предыдущую метку без изменений</a:t>
            </a:r>
          </a:p>
          <a:p>
            <a:r>
              <a:rPr lang="ru-RU" dirty="0"/>
              <a:t>Перебрав все вершины, в которые есть прямой путь из W, саму W отмечаем как </a:t>
            </a:r>
            <a:r>
              <a:rPr lang="ru-RU" b="1" dirty="0"/>
              <a:t>посещённую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9200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107058"/>
          </a:xfrm>
        </p:spPr>
        <p:txBody>
          <a:bodyPr/>
          <a:lstStyle/>
          <a:p>
            <a:r>
              <a:rPr lang="ru-RU" dirty="0"/>
              <a:t>Шаг 2.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EEC95B5-A6CE-4278-BB58-9DA02BE73F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96685" y="1472185"/>
            <a:ext cx="3944229" cy="3913712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822092" y="1383324"/>
            <a:ext cx="5498436" cy="5264365"/>
          </a:xfrm>
        </p:spPr>
        <p:txBody>
          <a:bodyPr>
            <a:normAutofit fontScale="92500"/>
          </a:bodyPr>
          <a:lstStyle/>
          <a:p>
            <a:r>
              <a:rPr lang="ru-RU" dirty="0"/>
              <a:t>Выбираем из ещё не посещенных такую, которая имеет </a:t>
            </a:r>
            <a:r>
              <a:rPr lang="ru-RU" b="1" dirty="0"/>
              <a:t>минимальное значение метки </a:t>
            </a:r>
            <a:r>
              <a:rPr lang="ru-RU" dirty="0"/>
              <a:t>– она будет следующей вершиной W (вершины 2 или 5)</a:t>
            </a:r>
          </a:p>
          <a:p>
            <a:r>
              <a:rPr lang="ru-RU" dirty="0"/>
              <a:t>Если есть </a:t>
            </a:r>
            <a:r>
              <a:rPr lang="ru-RU" b="1" dirty="0"/>
              <a:t>несколько вершин </a:t>
            </a:r>
            <a:r>
              <a:rPr lang="ru-RU" dirty="0"/>
              <a:t>с одинаковыми метками, то не имеет значения, какую из них выбрать как W – выберем </a:t>
            </a:r>
            <a:r>
              <a:rPr lang="ru-RU" b="1" dirty="0"/>
              <a:t>вершину 2</a:t>
            </a:r>
          </a:p>
          <a:p>
            <a:r>
              <a:rPr lang="ru-RU" dirty="0"/>
              <a:t>Из 2 нет исходящих путей, сразу отмечаем её как посещенную и переходим к следующей вершине с минимальной меткой (</a:t>
            </a:r>
            <a:r>
              <a:rPr lang="ru-RU" b="1" dirty="0"/>
              <a:t>вершина 5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6299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8"/>
            <a:ext cx="7886700" cy="830627"/>
          </a:xfrm>
        </p:spPr>
        <p:txBody>
          <a:bodyPr/>
          <a:lstStyle/>
          <a:p>
            <a:r>
              <a:rPr lang="ru-RU" dirty="0"/>
              <a:t>Шаг 3.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00" y="1210774"/>
            <a:ext cx="4034795" cy="403479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8096" y="1195754"/>
            <a:ext cx="5742432" cy="545193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Рассмотрим все непосещённые вершины, в которые есть прямые пути из 5</a:t>
            </a:r>
          </a:p>
          <a:p>
            <a:r>
              <a:rPr lang="ru-RU" dirty="0"/>
              <a:t>Снова находим сумму метки вершины W и веса ребра из W в текущую вершину, </a:t>
            </a:r>
          </a:p>
          <a:p>
            <a:r>
              <a:rPr lang="ru-RU" dirty="0"/>
              <a:t>И если эта сумма будет меньше предыдущей метки, то заменяем значение метки на полученную сумму</a:t>
            </a:r>
          </a:p>
          <a:p>
            <a:r>
              <a:rPr lang="ru-RU" dirty="0"/>
              <a:t>Метки 3-й и 4-й вершин стали меньше, т.е. в них был </a:t>
            </a:r>
            <a:r>
              <a:rPr lang="ru-RU" b="1" dirty="0"/>
              <a:t>найден более короткий маршрут</a:t>
            </a:r>
            <a:r>
              <a:rPr lang="ru-RU" dirty="0"/>
              <a:t> из источника</a:t>
            </a:r>
          </a:p>
          <a:p>
            <a:r>
              <a:rPr lang="ru-RU" dirty="0"/>
              <a:t>Далее отмечаем 5-ю вершину как посещенную и выбираем следующую вершину, которая имеет минимальную метку (</a:t>
            </a:r>
            <a:r>
              <a:rPr lang="ru-RU" b="1" dirty="0"/>
              <a:t>вершина 3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3019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877520"/>
          </a:xfrm>
        </p:spPr>
        <p:txBody>
          <a:bodyPr/>
          <a:lstStyle/>
          <a:p>
            <a:r>
              <a:rPr lang="ru-RU" dirty="0"/>
              <a:t>Результат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3" y="1484441"/>
            <a:ext cx="4397876" cy="4397876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056554" y="1383323"/>
            <a:ext cx="5283200" cy="488461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Повторяем все перечисленные действия, </a:t>
            </a:r>
            <a:r>
              <a:rPr lang="ru-RU" b="1" dirty="0"/>
              <a:t>пока есть непосещённые</a:t>
            </a:r>
            <a:r>
              <a:rPr lang="ru-RU" dirty="0"/>
              <a:t> вершины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В результате метки будут равны минимальному расстоянию от источника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Время работы алгоритма зависит от используемой для хранения </a:t>
            </a:r>
            <a:r>
              <a:rPr lang="ru-RU" dirty="0" err="1"/>
              <a:t>непосещённых</a:t>
            </a:r>
            <a:r>
              <a:rPr lang="ru-RU" dirty="0"/>
              <a:t> вершин </a:t>
            </a:r>
            <a:r>
              <a:rPr lang="ru-RU" b="1" dirty="0"/>
              <a:t>структуры данных </a:t>
            </a:r>
            <a:r>
              <a:rPr lang="ru-RU" dirty="0"/>
              <a:t>(простая очередь с приоритетом, бинарная или </a:t>
            </a:r>
            <a:r>
              <a:rPr lang="ru-RU" dirty="0" err="1"/>
              <a:t>фибоначчиева</a:t>
            </a:r>
            <a:r>
              <a:rPr lang="ru-RU" dirty="0"/>
              <a:t> куча)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Соответственно </a:t>
            </a:r>
            <a:r>
              <a:rPr lang="ru-RU" b="1" dirty="0"/>
              <a:t>время работы </a:t>
            </a:r>
            <a:r>
              <a:rPr lang="ru-RU" dirty="0"/>
              <a:t>будет варьироваться от O(V</a:t>
            </a:r>
            <a:r>
              <a:rPr lang="ru-RU" baseline="30000" dirty="0"/>
              <a:t>2</a:t>
            </a:r>
            <a:r>
              <a:rPr lang="ru-RU" dirty="0"/>
              <a:t>+</a:t>
            </a:r>
            <a:r>
              <a:rPr lang="en-US" dirty="0"/>
              <a:t>E)</a:t>
            </a:r>
            <a:r>
              <a:rPr lang="ru-RU" dirty="0"/>
              <a:t> до O(E*</a:t>
            </a:r>
            <a:r>
              <a:rPr lang="ru-RU" dirty="0" err="1"/>
              <a:t>log</a:t>
            </a:r>
            <a:r>
              <a:rPr lang="ru-RU" dirty="0"/>
              <a:t>(V))</a:t>
            </a:r>
            <a:r>
              <a:rPr lang="en-US" dirty="0"/>
              <a:t> </a:t>
            </a:r>
            <a:r>
              <a:rPr lang="ru-RU" dirty="0"/>
              <a:t>или O(</a:t>
            </a:r>
            <a:r>
              <a:rPr lang="en-US" dirty="0"/>
              <a:t>V</a:t>
            </a:r>
            <a:r>
              <a:rPr lang="ru-RU" dirty="0"/>
              <a:t>*</a:t>
            </a:r>
            <a:r>
              <a:rPr lang="ru-RU" dirty="0" err="1"/>
              <a:t>log</a:t>
            </a:r>
            <a:r>
              <a:rPr lang="ru-RU" dirty="0"/>
              <a:t>(V)</a:t>
            </a:r>
            <a:r>
              <a:rPr lang="en-US" dirty="0"/>
              <a:t>+E</a:t>
            </a:r>
            <a:r>
              <a:rPr lang="ru-RU" dirty="0"/>
              <a:t>), где V – количество вершин, а E – рёбер.</a:t>
            </a:r>
          </a:p>
        </p:txBody>
      </p:sp>
    </p:spTree>
    <p:extLst>
      <p:ext uri="{BB962C8B-B14F-4D97-AF65-F5344CB8AC3E}">
        <p14:creationId xmlns:p14="http://schemas.microsoft.com/office/powerpoint/2010/main" val="3363494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97579" y="365126"/>
            <a:ext cx="2614389" cy="1975738"/>
          </a:xfrm>
        </p:spPr>
        <p:txBody>
          <a:bodyPr>
            <a:normAutofit/>
          </a:bodyPr>
          <a:lstStyle/>
          <a:p>
            <a:r>
              <a:rPr lang="ru-RU" sz="3600" dirty="0"/>
              <a:t>Пример реализации на С++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719" y="92241"/>
            <a:ext cx="5903315" cy="435133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86" y="4434436"/>
            <a:ext cx="5830030" cy="226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10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65089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Флойда</a:t>
            </a:r>
            <a:r>
              <a:rPr lang="ru-RU" dirty="0"/>
              <a:t>-Уоршелла</a:t>
            </a:r>
          </a:p>
        </p:txBody>
      </p:sp>
      <p:pic>
        <p:nvPicPr>
          <p:cNvPr id="7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871" y="2379709"/>
            <a:ext cx="2857899" cy="1476581"/>
          </a:xfrm>
          <a:ln>
            <a:solidFill>
              <a:schemeClr val="tx1"/>
            </a:solidFill>
          </a:ln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6062" y="1516186"/>
            <a:ext cx="4623288" cy="5003486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Динамический</a:t>
            </a:r>
            <a:r>
              <a:rPr lang="ru-RU" dirty="0"/>
              <a:t> алгоритм для нахождения кратчайших расстояний между</a:t>
            </a:r>
            <a:r>
              <a:rPr lang="ru-RU" b="1" dirty="0"/>
              <a:t> всеми </a:t>
            </a:r>
            <a:r>
              <a:rPr lang="ru-RU" dirty="0"/>
              <a:t>вершинами</a:t>
            </a:r>
            <a:r>
              <a:rPr lang="ru-RU" b="1" dirty="0"/>
              <a:t> </a:t>
            </a:r>
            <a:r>
              <a:rPr lang="ru-RU" dirty="0"/>
              <a:t>взвешенного ориентированного графа без циклов</a:t>
            </a:r>
          </a:p>
          <a:p>
            <a:r>
              <a:rPr lang="ru-RU" dirty="0"/>
              <a:t>Возможны </a:t>
            </a:r>
            <a:r>
              <a:rPr lang="ru-RU" b="1" dirty="0"/>
              <a:t>отрицательные веса</a:t>
            </a:r>
          </a:p>
          <a:p>
            <a:r>
              <a:rPr lang="ru-RU" dirty="0"/>
              <a:t>Р. </a:t>
            </a:r>
            <a:r>
              <a:rPr lang="ru-RU" dirty="0" err="1"/>
              <a:t>Флойд</a:t>
            </a:r>
            <a:r>
              <a:rPr lang="ru-RU" dirty="0"/>
              <a:t>, С. </a:t>
            </a:r>
            <a:r>
              <a:rPr lang="ru-RU" dirty="0" err="1"/>
              <a:t>Уоршелл</a:t>
            </a:r>
            <a:r>
              <a:rPr lang="ru-RU" dirty="0"/>
              <a:t> (1962), </a:t>
            </a:r>
            <a:br>
              <a:rPr lang="ru-RU" dirty="0"/>
            </a:br>
            <a:r>
              <a:rPr lang="ru-RU" dirty="0"/>
              <a:t>Б. Рой (1959)</a:t>
            </a:r>
          </a:p>
          <a:p>
            <a:r>
              <a:rPr lang="ru-RU" dirty="0"/>
              <a:t>Представляет собой </a:t>
            </a:r>
            <a:r>
              <a:rPr lang="ru-RU" b="1" dirty="0"/>
              <a:t>простой перебор всех путей </a:t>
            </a:r>
            <a:r>
              <a:rPr lang="ru-RU" dirty="0"/>
              <a:t>по матрице смежности и выбор из них </a:t>
            </a:r>
            <a:r>
              <a:rPr lang="ru-RU" b="1" dirty="0"/>
              <a:t>наименьшего</a:t>
            </a:r>
            <a:r>
              <a:rPr lang="ru-RU" dirty="0"/>
              <a:t>.</a:t>
            </a:r>
          </a:p>
          <a:p>
            <a:r>
              <a:rPr lang="ru-RU" dirty="0"/>
              <a:t>Эффективен в плотных графах.</a:t>
            </a:r>
          </a:p>
        </p:txBody>
      </p:sp>
    </p:spTree>
    <p:extLst>
      <p:ext uri="{BB962C8B-B14F-4D97-AF65-F5344CB8AC3E}">
        <p14:creationId xmlns:p14="http://schemas.microsoft.com/office/powerpoint/2010/main" val="837898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77" y="2612760"/>
            <a:ext cx="3196159" cy="131575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45024" y="1825625"/>
            <a:ext cx="5157216" cy="467575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Дан взвешенный ориентированный граф G(V,E), в котором вершины пронумерованы от 1 до n</a:t>
            </a:r>
          </a:p>
          <a:p>
            <a:r>
              <a:rPr lang="ru-RU" dirty="0"/>
              <a:t>Требуется найти </a:t>
            </a:r>
            <a:r>
              <a:rPr lang="ru-RU" b="1" dirty="0"/>
              <a:t>матрицу кратчайших расстояний </a:t>
            </a:r>
            <a:r>
              <a:rPr lang="ru-RU" dirty="0"/>
              <a:t>d, в которой элемент </a:t>
            </a:r>
            <a:r>
              <a:rPr lang="ru-RU" b="1" dirty="0"/>
              <a:t>d</a:t>
            </a:r>
            <a:r>
              <a:rPr lang="en-US" b="1" baseline="-25000" dirty="0" err="1"/>
              <a:t>uv</a:t>
            </a:r>
            <a:r>
              <a:rPr lang="ru-RU" dirty="0"/>
              <a:t> либо равен длине кратчайшего пути из </a:t>
            </a:r>
            <a:r>
              <a:rPr lang="en-US" b="1" dirty="0"/>
              <a:t>u</a:t>
            </a:r>
            <a:r>
              <a:rPr lang="ru-RU" dirty="0"/>
              <a:t> в </a:t>
            </a:r>
            <a:r>
              <a:rPr lang="en-US" b="1" dirty="0"/>
              <a:t>v</a:t>
            </a:r>
            <a:r>
              <a:rPr lang="ru-RU" dirty="0"/>
              <a:t>, либо равен </a:t>
            </a:r>
            <a:r>
              <a:rPr lang="ru-RU" b="1" dirty="0"/>
              <a:t>+∞</a:t>
            </a:r>
            <a:r>
              <a:rPr lang="ru-RU" dirty="0"/>
              <a:t>, если вершина </a:t>
            </a:r>
            <a:r>
              <a:rPr lang="en-US" b="1" dirty="0"/>
              <a:t>v</a:t>
            </a:r>
            <a:r>
              <a:rPr lang="ru-RU" dirty="0"/>
              <a:t> не достижима из </a:t>
            </a:r>
            <a:r>
              <a:rPr lang="en-US" b="1" dirty="0"/>
              <a:t>u</a:t>
            </a:r>
            <a:endParaRPr lang="ru-RU" b="1" dirty="0"/>
          </a:p>
          <a:p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ru-RU" b="1" baseline="-25000" dirty="0" err="1"/>
              <a:t>uv</a:t>
            </a:r>
            <a:r>
              <a:rPr lang="ru-RU" dirty="0"/>
              <a:t> – длина кратчайшего пути между вершинами </a:t>
            </a:r>
            <a:r>
              <a:rPr lang="ru-RU" b="1" dirty="0"/>
              <a:t>u</a:t>
            </a:r>
            <a:r>
              <a:rPr lang="ru-RU" dirty="0"/>
              <a:t> и </a:t>
            </a:r>
            <a:r>
              <a:rPr lang="ru-RU" b="1" dirty="0"/>
              <a:t>v</a:t>
            </a:r>
            <a:r>
              <a:rPr lang="ru-RU" dirty="0"/>
              <a:t>, содержащего, помимо </a:t>
            </a:r>
            <a:r>
              <a:rPr lang="ru-RU" b="1" dirty="0"/>
              <a:t>u</a:t>
            </a:r>
            <a:r>
              <a:rPr lang="ru-RU" dirty="0"/>
              <a:t> и </a:t>
            </a:r>
            <a:r>
              <a:rPr lang="ru-RU" b="1" dirty="0"/>
              <a:t>v</a:t>
            </a:r>
            <a:r>
              <a:rPr lang="ru-RU" dirty="0"/>
              <a:t>, только вершины из множества {</a:t>
            </a:r>
            <a:r>
              <a:rPr lang="ru-RU" b="1" dirty="0"/>
              <a:t>1..i</a:t>
            </a:r>
            <a:r>
              <a:rPr lang="ru-RU" dirty="0"/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128336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780182"/>
          </a:xfrm>
        </p:spPr>
        <p:txBody>
          <a:bodyPr/>
          <a:lstStyle/>
          <a:p>
            <a:r>
              <a:rPr lang="ru-RU" dirty="0"/>
              <a:t>Описание алгоритма</a:t>
            </a:r>
            <a:r>
              <a:rPr lang="en-US" dirty="0"/>
              <a:t> (1/2)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FBD6F81-F094-434A-9301-F54AFB3B4D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1453" y="2261066"/>
            <a:ext cx="2329131" cy="2922001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781568" y="1727201"/>
            <a:ext cx="4257782" cy="4595446"/>
          </a:xfrm>
        </p:spPr>
        <p:txBody>
          <a:bodyPr>
            <a:normAutofit/>
          </a:bodyPr>
          <a:lstStyle/>
          <a:p>
            <a:r>
              <a:rPr lang="ru-RU" dirty="0"/>
              <a:t>Перед началом алгоритма матрица </a:t>
            </a:r>
            <a:r>
              <a:rPr lang="en-US" b="1" dirty="0"/>
              <a:t>d</a:t>
            </a:r>
            <a:r>
              <a:rPr lang="en-US" dirty="0"/>
              <a:t> </a:t>
            </a:r>
            <a:r>
              <a:rPr lang="ru-RU" dirty="0"/>
              <a:t>заполняется длинами рёбер графа (или признаками их отсутствия) – </a:t>
            </a:r>
            <a:r>
              <a:rPr lang="ru-RU" b="1" dirty="0"/>
              <a:t>матрица смежности</a:t>
            </a:r>
            <a:r>
              <a:rPr lang="ru-RU" dirty="0"/>
              <a:t>:</a:t>
            </a:r>
          </a:p>
          <a:p>
            <a:pPr lvl="1"/>
            <a:r>
              <a:rPr lang="ru-RU" sz="2800" b="1" dirty="0"/>
              <a:t>d</a:t>
            </a:r>
            <a:r>
              <a:rPr lang="ru-RU" sz="2800" b="1" baseline="30000" dirty="0"/>
              <a:t>0</a:t>
            </a:r>
            <a:r>
              <a:rPr lang="ru-RU" sz="2800" b="1" baseline="-25000" dirty="0"/>
              <a:t>uv</a:t>
            </a:r>
            <a:r>
              <a:rPr lang="ru-RU" sz="2800" b="1" dirty="0"/>
              <a:t> = </a:t>
            </a:r>
            <a:r>
              <a:rPr lang="el-GR" sz="2800" b="1" dirty="0"/>
              <a:t>ω</a:t>
            </a:r>
            <a:r>
              <a:rPr lang="en-US" sz="2800" b="1" baseline="-25000" dirty="0" err="1"/>
              <a:t>uv</a:t>
            </a:r>
            <a:r>
              <a:rPr lang="ru-RU" sz="2800" dirty="0"/>
              <a:t> – длина ребра, если оно существует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87397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240687"/>
            <a:ext cx="7886700" cy="704255"/>
          </a:xfrm>
        </p:spPr>
        <p:txBody>
          <a:bodyPr>
            <a:normAutofit/>
          </a:bodyPr>
          <a:lstStyle/>
          <a:p>
            <a:r>
              <a:rPr lang="ru-RU" sz="3600" dirty="0"/>
              <a:t>Описание алгоритма</a:t>
            </a:r>
            <a:r>
              <a:rPr lang="en-US" sz="3600" dirty="0"/>
              <a:t> (2/2)</a:t>
            </a:r>
            <a:endParaRPr lang="ru-RU" sz="36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B82E207-6A60-4E27-A3BA-5FE34D9350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5108" y="4422173"/>
            <a:ext cx="8527773" cy="2233799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813170" y="1041664"/>
            <a:ext cx="8550031" cy="3380509"/>
          </a:xfrm>
        </p:spPr>
        <p:txBody>
          <a:bodyPr>
            <a:normAutofit fontScale="92500"/>
          </a:bodyPr>
          <a:lstStyle/>
          <a:p>
            <a:r>
              <a:rPr lang="ru-RU" dirty="0"/>
              <a:t>На каждом шаге алгоритма берётся очередная </a:t>
            </a:r>
            <a:r>
              <a:rPr lang="en-US" b="1" dirty="0" err="1"/>
              <a:t>i</a:t>
            </a:r>
            <a:r>
              <a:rPr lang="en-US" dirty="0"/>
              <a:t>-</a:t>
            </a:r>
            <a:r>
              <a:rPr lang="ru-RU" dirty="0"/>
              <a:t>я вершина, для которой справедливо:</a:t>
            </a:r>
          </a:p>
          <a:p>
            <a:pPr lvl="1"/>
            <a:r>
              <a:rPr lang="ru-RU" dirty="0"/>
              <a:t>Если нет пути между </a:t>
            </a:r>
            <a:r>
              <a:rPr lang="en-US" b="1" dirty="0"/>
              <a:t>u</a:t>
            </a:r>
            <a:r>
              <a:rPr lang="ru-RU" dirty="0"/>
              <a:t> и</a:t>
            </a:r>
            <a:r>
              <a:rPr lang="en-US" dirty="0"/>
              <a:t> </a:t>
            </a:r>
            <a:r>
              <a:rPr lang="en-US" b="1" dirty="0"/>
              <a:t>v</a:t>
            </a:r>
            <a:r>
              <a:rPr lang="en-US" dirty="0"/>
              <a:t> </a:t>
            </a:r>
            <a:r>
              <a:rPr lang="ru-RU" dirty="0"/>
              <a:t>через вершину </a:t>
            </a:r>
            <a:r>
              <a:rPr lang="en-US" b="1" dirty="0" err="1"/>
              <a:t>i</a:t>
            </a:r>
            <a:r>
              <a:rPr lang="en-US" dirty="0"/>
              <a:t>, </a:t>
            </a:r>
            <a:r>
              <a:rPr lang="ru-RU" dirty="0"/>
              <a:t>тогда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ru-RU" b="1" baseline="-25000" dirty="0" err="1"/>
              <a:t>uv</a:t>
            </a:r>
            <a:r>
              <a:rPr lang="ru-RU" b="1" baseline="-25000" dirty="0"/>
              <a:t> </a:t>
            </a:r>
            <a:r>
              <a:rPr lang="ru-RU" b="1" dirty="0"/>
              <a:t>=</a:t>
            </a:r>
            <a:r>
              <a:rPr lang="en-US" b="1" dirty="0"/>
              <a:t> </a:t>
            </a:r>
            <a:r>
              <a:rPr lang="ru-RU" b="1" dirty="0"/>
              <a:t>d</a:t>
            </a:r>
            <a:r>
              <a:rPr lang="ru-RU" b="1" baseline="30000" dirty="0"/>
              <a:t>i-1</a:t>
            </a:r>
            <a:r>
              <a:rPr lang="ru-RU" b="1" baseline="-25000" dirty="0"/>
              <a:t>uv</a:t>
            </a:r>
            <a:r>
              <a:rPr lang="ru-RU" dirty="0"/>
              <a:t>,</a:t>
            </a:r>
            <a:endParaRPr lang="en-US" dirty="0"/>
          </a:p>
          <a:p>
            <a:pPr lvl="1"/>
            <a:r>
              <a:rPr lang="ru-RU" dirty="0"/>
              <a:t>Если существует путь между </a:t>
            </a:r>
            <a:r>
              <a:rPr lang="en-US" b="1" dirty="0"/>
              <a:t>u</a:t>
            </a:r>
            <a:r>
              <a:rPr lang="ru-RU" dirty="0"/>
              <a:t> и</a:t>
            </a:r>
            <a:r>
              <a:rPr lang="en-US" dirty="0"/>
              <a:t> </a:t>
            </a:r>
            <a:r>
              <a:rPr lang="en-US" b="1" dirty="0"/>
              <a:t>v</a:t>
            </a:r>
            <a:r>
              <a:rPr lang="en-US" dirty="0"/>
              <a:t>, </a:t>
            </a:r>
            <a:r>
              <a:rPr lang="ru-RU" dirty="0"/>
              <a:t>проходящий через </a:t>
            </a:r>
            <a:r>
              <a:rPr lang="en-US" b="1" dirty="0" err="1"/>
              <a:t>i</a:t>
            </a:r>
            <a:r>
              <a:rPr lang="en-US" dirty="0"/>
              <a:t>, </a:t>
            </a:r>
            <a:r>
              <a:rPr lang="ru-RU" dirty="0"/>
              <a:t>тогда </a:t>
            </a:r>
            <a:br>
              <a:rPr lang="ru-RU" dirty="0"/>
            </a:br>
            <a:r>
              <a:rPr lang="ru-RU" dirty="0"/>
              <a:t>он сначала идёт </a:t>
            </a:r>
            <a:r>
              <a:rPr lang="ru-RU" b="1" dirty="0"/>
              <a:t>от </a:t>
            </a:r>
            <a:r>
              <a:rPr lang="en-US" b="1" dirty="0"/>
              <a:t>u </a:t>
            </a:r>
            <a:r>
              <a:rPr lang="ru-RU" b="1" dirty="0"/>
              <a:t>до </a:t>
            </a:r>
            <a:r>
              <a:rPr lang="en-US" b="1" dirty="0" err="1"/>
              <a:t>i</a:t>
            </a:r>
            <a:r>
              <a:rPr lang="en-US" dirty="0"/>
              <a:t>, </a:t>
            </a:r>
            <a:r>
              <a:rPr lang="ru-RU" dirty="0"/>
              <a:t>потом </a:t>
            </a:r>
            <a:r>
              <a:rPr lang="ru-RU" b="1" dirty="0"/>
              <a:t>от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ru-RU" b="1" dirty="0"/>
              <a:t>до </a:t>
            </a:r>
            <a:r>
              <a:rPr lang="en-US" b="1" dirty="0"/>
              <a:t>v</a:t>
            </a:r>
            <a:r>
              <a:rPr lang="ru-RU" dirty="0"/>
              <a:t>:</a:t>
            </a:r>
            <a:r>
              <a:rPr lang="en-US" dirty="0"/>
              <a:t> </a:t>
            </a:r>
            <a:br>
              <a:rPr lang="ru-RU" dirty="0"/>
            </a:b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ru-RU" b="1" baseline="-25000" dirty="0" err="1"/>
              <a:t>uv</a:t>
            </a:r>
            <a:r>
              <a:rPr lang="ru-RU" b="1" baseline="-25000" dirty="0"/>
              <a:t> </a:t>
            </a:r>
            <a:r>
              <a:rPr lang="ru-RU" b="1" dirty="0"/>
              <a:t>=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en-US" b="1" baseline="30000" dirty="0"/>
              <a:t>-1</a:t>
            </a:r>
            <a:r>
              <a:rPr lang="ru-RU" b="1" baseline="-25000" dirty="0"/>
              <a:t>u</a:t>
            </a:r>
            <a:r>
              <a:rPr lang="en-US" b="1" baseline="-25000" dirty="0" err="1"/>
              <a:t>i</a:t>
            </a:r>
            <a:r>
              <a:rPr lang="ru-RU" b="1" baseline="-25000" dirty="0"/>
              <a:t> </a:t>
            </a:r>
            <a:r>
              <a:rPr lang="ru-RU" b="1" dirty="0"/>
              <a:t>+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en-US" b="1" baseline="30000" dirty="0"/>
              <a:t>-1</a:t>
            </a:r>
            <a:r>
              <a:rPr lang="en-US" b="1" baseline="-25000" dirty="0"/>
              <a:t>i</a:t>
            </a:r>
            <a:r>
              <a:rPr lang="ru-RU" b="1" baseline="-25000" dirty="0"/>
              <a:t>v</a:t>
            </a:r>
            <a:r>
              <a:rPr lang="ru-RU" dirty="0"/>
              <a:t>,</a:t>
            </a:r>
          </a:p>
          <a:p>
            <a:r>
              <a:rPr lang="ru-RU" dirty="0"/>
              <a:t>Тогда </a:t>
            </a:r>
            <a:r>
              <a:rPr lang="ru-RU" b="1" dirty="0"/>
              <a:t>кратчайший</a:t>
            </a:r>
            <a:r>
              <a:rPr lang="ru-RU" dirty="0"/>
              <a:t> путь между </a:t>
            </a:r>
            <a:r>
              <a:rPr lang="en-US" b="1" dirty="0"/>
              <a:t>u, v</a:t>
            </a:r>
            <a:r>
              <a:rPr lang="ru-RU" b="1" dirty="0"/>
              <a:t> </a:t>
            </a:r>
            <a:r>
              <a:rPr lang="ru-RU" dirty="0"/>
              <a:t>– это </a:t>
            </a:r>
            <a:r>
              <a:rPr lang="ru-RU" b="1" dirty="0"/>
              <a:t>минимум</a:t>
            </a:r>
            <a:r>
              <a:rPr lang="ru-RU" dirty="0"/>
              <a:t> из двух значений: </a:t>
            </a:r>
            <a:br>
              <a:rPr lang="ru-RU" dirty="0"/>
            </a:b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ru-RU" b="1" baseline="-25000" dirty="0" err="1"/>
              <a:t>uv</a:t>
            </a:r>
            <a:r>
              <a:rPr lang="ru-RU" b="1" baseline="-25000" dirty="0"/>
              <a:t> </a:t>
            </a:r>
            <a:r>
              <a:rPr lang="ru-RU" b="1" dirty="0"/>
              <a:t>=</a:t>
            </a:r>
            <a:r>
              <a:rPr lang="ru-RU" b="1" dirty="0" err="1"/>
              <a:t>min</a:t>
            </a:r>
            <a:r>
              <a:rPr lang="ru-RU" b="1" dirty="0"/>
              <a:t>(d</a:t>
            </a:r>
            <a:r>
              <a:rPr lang="ru-RU" b="1" baseline="30000" dirty="0"/>
              <a:t>i-1</a:t>
            </a:r>
            <a:r>
              <a:rPr lang="ru-RU" b="1" baseline="-25000" dirty="0"/>
              <a:t>uv</a:t>
            </a:r>
            <a:r>
              <a:rPr lang="ru-RU" b="1" dirty="0"/>
              <a:t>,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en-US" b="1" baseline="30000" dirty="0"/>
              <a:t>-1</a:t>
            </a:r>
            <a:r>
              <a:rPr lang="ru-RU" b="1" baseline="-25000" dirty="0"/>
              <a:t>u</a:t>
            </a:r>
            <a:r>
              <a:rPr lang="en-US" b="1" baseline="-25000" dirty="0" err="1"/>
              <a:t>i</a:t>
            </a:r>
            <a:r>
              <a:rPr lang="ru-RU" b="1" baseline="-25000" dirty="0"/>
              <a:t> </a:t>
            </a:r>
            <a:r>
              <a:rPr lang="ru-RU" b="1" dirty="0"/>
              <a:t>+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en-US" b="1" baseline="30000" dirty="0"/>
              <a:t>-1</a:t>
            </a:r>
            <a:r>
              <a:rPr lang="en-US" b="1" baseline="-25000" dirty="0"/>
              <a:t>i</a:t>
            </a:r>
            <a:r>
              <a:rPr lang="ru-RU" b="1" baseline="-25000" dirty="0"/>
              <a:t>v</a:t>
            </a:r>
            <a:r>
              <a:rPr lang="ru-RU" b="1" dirty="0"/>
              <a:t>) </a:t>
            </a:r>
            <a:r>
              <a:rPr lang="ru-RU" dirty="0"/>
              <a:t>– рекуррентная формула.</a:t>
            </a:r>
          </a:p>
        </p:txBody>
      </p:sp>
    </p:spTree>
    <p:extLst>
      <p:ext uri="{BB962C8B-B14F-4D97-AF65-F5344CB8AC3E}">
        <p14:creationId xmlns:p14="http://schemas.microsoft.com/office/powerpoint/2010/main" val="3959030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933322"/>
          </a:xfrm>
        </p:spPr>
        <p:txBody>
          <a:bodyPr/>
          <a:lstStyle/>
          <a:p>
            <a:r>
              <a:rPr lang="ru-RU" dirty="0"/>
              <a:t>Псевдокод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152650" y="1527049"/>
            <a:ext cx="7886700" cy="49469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d</a:t>
            </a:r>
            <a:r>
              <a:rPr lang="ru-RU" b="1" baseline="30000" dirty="0"/>
              <a:t>0</a:t>
            </a:r>
            <a:r>
              <a:rPr lang="ru-RU" b="1" baseline="-25000" dirty="0"/>
              <a:t>uv</a:t>
            </a:r>
            <a:r>
              <a:rPr lang="ru-RU" b="1" dirty="0"/>
              <a:t> = </a:t>
            </a:r>
            <a:r>
              <a:rPr lang="en-US" dirty="0"/>
              <a:t>w</a:t>
            </a:r>
            <a:r>
              <a:rPr lang="ru-RU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i∈V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u∈V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for </a:t>
            </a:r>
            <a:r>
              <a:rPr lang="en-US" dirty="0" err="1"/>
              <a:t>v∈V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ru-RU" dirty="0"/>
              <a:t>          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ru-RU" b="1" baseline="-25000" dirty="0" err="1"/>
              <a:t>uv</a:t>
            </a:r>
            <a:r>
              <a:rPr lang="ru-RU" b="1" baseline="-25000" dirty="0"/>
              <a:t> </a:t>
            </a:r>
            <a:r>
              <a:rPr lang="en-US" dirty="0"/>
              <a:t>=min(</a:t>
            </a:r>
            <a:r>
              <a:rPr lang="ru-RU" b="1" dirty="0"/>
              <a:t>d</a:t>
            </a:r>
            <a:r>
              <a:rPr lang="ru-RU" b="1" baseline="30000" dirty="0"/>
              <a:t>i-1</a:t>
            </a:r>
            <a:r>
              <a:rPr lang="ru-RU" b="1" baseline="-25000" dirty="0"/>
              <a:t>uv</a:t>
            </a:r>
            <a:r>
              <a:rPr lang="ru-RU" b="1" dirty="0"/>
              <a:t>,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en-US" b="1" baseline="30000" dirty="0"/>
              <a:t>-1</a:t>
            </a:r>
            <a:r>
              <a:rPr lang="ru-RU" b="1" baseline="-25000" dirty="0"/>
              <a:t>u</a:t>
            </a:r>
            <a:r>
              <a:rPr lang="en-US" b="1" baseline="-25000" dirty="0" err="1"/>
              <a:t>i</a:t>
            </a:r>
            <a:r>
              <a:rPr lang="ru-RU" b="1" baseline="-25000" dirty="0"/>
              <a:t> </a:t>
            </a:r>
            <a:r>
              <a:rPr lang="ru-RU" b="1" dirty="0"/>
              <a:t>+ </a:t>
            </a:r>
            <a:r>
              <a:rPr lang="ru-RU" b="1" dirty="0" err="1"/>
              <a:t>d</a:t>
            </a:r>
            <a:r>
              <a:rPr lang="ru-RU" b="1" baseline="30000" dirty="0" err="1"/>
              <a:t>i</a:t>
            </a:r>
            <a:r>
              <a:rPr lang="en-US" b="1" baseline="30000" dirty="0"/>
              <a:t>-1</a:t>
            </a:r>
            <a:r>
              <a:rPr lang="en-US" b="1" baseline="-25000" dirty="0"/>
              <a:t>i</a:t>
            </a:r>
            <a:r>
              <a:rPr lang="ru-RU" b="1" baseline="-25000" dirty="0"/>
              <a:t>v</a:t>
            </a:r>
            <a:r>
              <a:rPr lang="en-US" dirty="0"/>
              <a:t>)</a:t>
            </a:r>
          </a:p>
          <a:p>
            <a:endParaRPr lang="ru-RU" dirty="0"/>
          </a:p>
          <a:p>
            <a:r>
              <a:rPr lang="ru-RU" dirty="0"/>
              <a:t>В итоге матрица </a:t>
            </a:r>
            <a:r>
              <a:rPr lang="ru-RU" b="1" dirty="0" err="1"/>
              <a:t>d</a:t>
            </a:r>
            <a:r>
              <a:rPr lang="ru-RU" b="1" baseline="30000" dirty="0" err="1"/>
              <a:t>n</a:t>
            </a:r>
            <a:r>
              <a:rPr lang="ru-RU" dirty="0"/>
              <a:t> является искомой матрицей кратчайших путей, поскольку содержит в себе длины кратчайших путей между всеми парами вершин, имеющих в качестве промежуточных вершины из множества {1..n}, т.е. все вершины графа</a:t>
            </a:r>
          </a:p>
          <a:p>
            <a:r>
              <a:rPr lang="ru-RU" dirty="0"/>
              <a:t>Такая реализация работает за Θ(n</a:t>
            </a:r>
            <a:r>
              <a:rPr lang="ru-RU" baseline="30000" dirty="0"/>
              <a:t>3</a:t>
            </a:r>
            <a:r>
              <a:rPr lang="ru-RU" dirty="0"/>
              <a:t>) времени и использует Θ(n</a:t>
            </a:r>
            <a:r>
              <a:rPr lang="ru-RU" baseline="30000" dirty="0"/>
              <a:t>3</a:t>
            </a:r>
            <a:r>
              <a:rPr lang="ru-RU" dirty="0"/>
              <a:t>) памяти.</a:t>
            </a:r>
          </a:p>
        </p:txBody>
      </p:sp>
    </p:spTree>
    <p:extLst>
      <p:ext uri="{BB962C8B-B14F-4D97-AF65-F5344CB8AC3E}">
        <p14:creationId xmlns:p14="http://schemas.microsoft.com/office/powerpoint/2010/main" val="4153852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08648" y="365126"/>
            <a:ext cx="3330702" cy="145453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реализации на С++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855" y="339312"/>
            <a:ext cx="5116691" cy="435133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697" y="2414398"/>
            <a:ext cx="3390450" cy="397725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462" y="4800394"/>
            <a:ext cx="2917923" cy="16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69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Остовное</a:t>
            </a:r>
            <a:r>
              <a:rPr lang="ru-RU" dirty="0"/>
              <a:t> (стягивающее, покрывающее) дерево в графе –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050" y="2848608"/>
            <a:ext cx="2857899" cy="230537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35880" y="1865377"/>
            <a:ext cx="4903470" cy="470001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Можно получить из него удалением некоторых рёбер</a:t>
            </a:r>
          </a:p>
          <a:p>
            <a:r>
              <a:rPr lang="ru-RU" dirty="0"/>
              <a:t>Может существовать несколько </a:t>
            </a:r>
            <a:r>
              <a:rPr lang="ru-RU" dirty="0" err="1"/>
              <a:t>остовных</a:t>
            </a:r>
            <a:r>
              <a:rPr lang="ru-RU" dirty="0"/>
              <a:t> деревьев</a:t>
            </a:r>
          </a:p>
          <a:p>
            <a:r>
              <a:rPr lang="ru-RU" dirty="0"/>
              <a:t>Во взвешенном графе </a:t>
            </a:r>
            <a:r>
              <a:rPr lang="ru-RU" b="1" dirty="0"/>
              <a:t>вес </a:t>
            </a:r>
            <a:r>
              <a:rPr lang="ru-RU" b="1" dirty="0" err="1"/>
              <a:t>остовного</a:t>
            </a:r>
            <a:r>
              <a:rPr lang="ru-RU" b="1" dirty="0"/>
              <a:t> дерева</a:t>
            </a:r>
            <a:r>
              <a:rPr lang="ru-RU" dirty="0"/>
              <a:t> – это сумма весов всех его </a:t>
            </a:r>
            <a:r>
              <a:rPr lang="ru-RU" dirty="0" err="1"/>
              <a:t>ребёр</a:t>
            </a:r>
            <a:endParaRPr lang="ru-RU" dirty="0"/>
          </a:p>
          <a:p>
            <a:r>
              <a:rPr lang="ru-RU" b="1" dirty="0"/>
              <a:t>Минимальное </a:t>
            </a:r>
            <a:r>
              <a:rPr lang="ru-RU" b="1" dirty="0" err="1"/>
              <a:t>остовное</a:t>
            </a:r>
            <a:r>
              <a:rPr lang="ru-RU" b="1" dirty="0"/>
              <a:t> дерево </a:t>
            </a:r>
            <a:r>
              <a:rPr lang="ru-RU" dirty="0"/>
              <a:t>– с минимальным возможным весом</a:t>
            </a:r>
          </a:p>
          <a:p>
            <a:r>
              <a:rPr lang="ru-RU" dirty="0"/>
              <a:t>Задача – </a:t>
            </a:r>
            <a:r>
              <a:rPr lang="ru-RU" b="1" dirty="0"/>
              <a:t>нахождение минимального </a:t>
            </a:r>
            <a:r>
              <a:rPr lang="ru-RU" dirty="0" err="1"/>
              <a:t>остовного</a:t>
            </a:r>
            <a:r>
              <a:rPr lang="ru-RU" dirty="0"/>
              <a:t> дерева в связном взвешенном неориентированном графе.</a:t>
            </a:r>
          </a:p>
        </p:txBody>
      </p:sp>
    </p:spTree>
    <p:extLst>
      <p:ext uri="{BB962C8B-B14F-4D97-AF65-F5344CB8AC3E}">
        <p14:creationId xmlns:p14="http://schemas.microsoft.com/office/powerpoint/2010/main" val="2759384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79626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286" y="2649772"/>
            <a:ext cx="2962518" cy="238976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31792" y="1514728"/>
            <a:ext cx="6044184" cy="4886072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ru-RU" dirty="0"/>
              <a:t>Есть </a:t>
            </a:r>
            <a:r>
              <a:rPr lang="ru-RU" b="1" i="1" dirty="0"/>
              <a:t>n</a:t>
            </a:r>
            <a:r>
              <a:rPr lang="ru-RU" b="1" dirty="0"/>
              <a:t> городов</a:t>
            </a:r>
            <a:r>
              <a:rPr lang="ru-RU" dirty="0"/>
              <a:t>, их необходимо соединить </a:t>
            </a:r>
            <a:r>
              <a:rPr lang="ru-RU" b="1" dirty="0"/>
              <a:t>дорогами</a:t>
            </a:r>
            <a:r>
              <a:rPr lang="ru-RU" dirty="0"/>
              <a:t>, так, чтобы был путь из любого города в любой другой (напрямую или через другие города)</a:t>
            </a:r>
          </a:p>
          <a:p>
            <a:pPr lvl="1"/>
            <a:r>
              <a:rPr lang="ru-RU" dirty="0"/>
              <a:t>Разрешается строить дороги между заданными парами городов и известна стоимость строительства каждой такой дороги</a:t>
            </a:r>
          </a:p>
          <a:p>
            <a:pPr lvl="1"/>
            <a:r>
              <a:rPr lang="ru-RU" dirty="0"/>
              <a:t>Требуется решить, какие именно дороги нужно строить, чтобы </a:t>
            </a:r>
            <a:r>
              <a:rPr lang="ru-RU" b="1" dirty="0"/>
              <a:t>минимизировать общую стоимость </a:t>
            </a:r>
            <a:r>
              <a:rPr lang="ru-RU" dirty="0"/>
              <a:t>строительства. </a:t>
            </a:r>
          </a:p>
          <a:p>
            <a:r>
              <a:rPr lang="ru-RU" dirty="0"/>
              <a:t>В терминах </a:t>
            </a:r>
            <a:r>
              <a:rPr lang="ru-RU" b="1" dirty="0"/>
              <a:t>теории графов </a:t>
            </a:r>
            <a:r>
              <a:rPr lang="ru-RU" dirty="0"/>
              <a:t>это задача о нахождении </a:t>
            </a:r>
            <a:r>
              <a:rPr lang="ru-RU" b="1" dirty="0"/>
              <a:t>минимального </a:t>
            </a:r>
            <a:r>
              <a:rPr lang="ru-RU" b="1" dirty="0" err="1"/>
              <a:t>остовного</a:t>
            </a:r>
            <a:r>
              <a:rPr lang="ru-RU" b="1" dirty="0"/>
              <a:t> дерева в графе</a:t>
            </a:r>
            <a:r>
              <a:rPr lang="ru-RU" dirty="0"/>
              <a:t>, вершины которого – города, а рёбра – пары городов, между которыми можно проложить дорогу; вес ребра – это стоимость строительства соответствующей дороги.</a:t>
            </a:r>
          </a:p>
        </p:txBody>
      </p:sp>
    </p:spTree>
    <p:extLst>
      <p:ext uri="{BB962C8B-B14F-4D97-AF65-F5344CB8AC3E}">
        <p14:creationId xmlns:p14="http://schemas.microsoft.com/office/powerpoint/2010/main" val="34160452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5774</TotalTime>
  <Words>2458</Words>
  <Application>Microsoft Office PowerPoint</Application>
  <PresentationFormat>Широкоэкранный</PresentationFormat>
  <Paragraphs>197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Тема Office</vt:lpstr>
      <vt:lpstr>Структуры и алгоритмы обработки данных</vt:lpstr>
      <vt:lpstr>Обход графа</vt:lpstr>
      <vt:lpstr>1. Поиск в ширину  (breadth-first search, BFS)</vt:lpstr>
      <vt:lpstr>Особенности алгоритма поиска в ширину:</vt:lpstr>
      <vt:lpstr>Применения алгоритма поиска в ширину:</vt:lpstr>
      <vt:lpstr>Реализация на C++ (с использованием очереди STL)</vt:lpstr>
      <vt:lpstr>2. Поиск в глубину  (Depth-first search, DFS)</vt:lpstr>
      <vt:lpstr>Особенности алгоритма поиска в глубину:</vt:lpstr>
      <vt:lpstr>Применения алгоритма поиска в глубину:</vt:lpstr>
      <vt:lpstr>Реализация на C++ (с использованием очереди STL) стеком</vt:lpstr>
      <vt:lpstr>Реализация на C++ (с использованием очереди STL) рекурсией</vt:lpstr>
      <vt:lpstr>Обход в глубину при программировании игр</vt:lpstr>
      <vt:lpstr>Обход в глубину при программировании игр</vt:lpstr>
      <vt:lpstr>Транзитивное замыкание</vt:lpstr>
      <vt:lpstr>Транзитивное замыкание орграфа</vt:lpstr>
      <vt:lpstr>Алгоритм Уоршелла построения транзитивного замыкания орграфа</vt:lpstr>
      <vt:lpstr>Первая строка A:</vt:lpstr>
      <vt:lpstr>Строки В, С, D:</vt:lpstr>
      <vt:lpstr>Строка Е:</vt:lpstr>
      <vt:lpstr>Результат:</vt:lpstr>
      <vt:lpstr>Дизъюнктивное объединение строк</vt:lpstr>
      <vt:lpstr>Реализация алгоритма Уоршелла</vt:lpstr>
      <vt:lpstr>Задача поиска кратчайшего пути на графе</vt:lpstr>
      <vt:lpstr>Алгоритм Дейкстры</vt:lpstr>
      <vt:lpstr>Постановка задачи</vt:lpstr>
      <vt:lpstr>Шаг 0 – Инициализация</vt:lpstr>
      <vt:lpstr>Шаг 1.</vt:lpstr>
      <vt:lpstr>Шаг 2.</vt:lpstr>
      <vt:lpstr>Шаг 3.</vt:lpstr>
      <vt:lpstr>Результат</vt:lpstr>
      <vt:lpstr>Пример реализации на С++</vt:lpstr>
      <vt:lpstr>Алгоритм Флойда-Уоршелла</vt:lpstr>
      <vt:lpstr>Постановка задачи</vt:lpstr>
      <vt:lpstr>Описание алгоритма (1/2)</vt:lpstr>
      <vt:lpstr>Описание алгоритма (2/2)</vt:lpstr>
      <vt:lpstr>Псевдокод</vt:lpstr>
      <vt:lpstr>Пример реализации на С++</vt:lpstr>
      <vt:lpstr>Остовное (стягивающее, покрывающее) дерево в графе –</vt:lpstr>
      <vt:lpstr>Пример: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436</cp:revision>
  <dcterms:created xsi:type="dcterms:W3CDTF">2020-09-03T13:34:10Z</dcterms:created>
  <dcterms:modified xsi:type="dcterms:W3CDTF">2025-08-24T15:23:30Z</dcterms:modified>
</cp:coreProperties>
</file>