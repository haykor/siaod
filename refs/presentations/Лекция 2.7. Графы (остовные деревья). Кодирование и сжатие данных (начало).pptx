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37" r:id="rId3"/>
    <p:sldId id="438" r:id="rId4"/>
    <p:sldId id="444" r:id="rId5"/>
    <p:sldId id="445" r:id="rId6"/>
    <p:sldId id="446" r:id="rId7"/>
    <p:sldId id="447" r:id="rId8"/>
    <p:sldId id="448" r:id="rId9"/>
    <p:sldId id="449" r:id="rId10"/>
    <p:sldId id="459" r:id="rId11"/>
    <p:sldId id="460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57" r:id="rId20"/>
    <p:sldId id="458" r:id="rId21"/>
    <p:sldId id="397" r:id="rId22"/>
    <p:sldId id="400" r:id="rId23"/>
    <p:sldId id="401" r:id="rId24"/>
    <p:sldId id="403" r:id="rId25"/>
    <p:sldId id="404" r:id="rId26"/>
    <p:sldId id="398" r:id="rId27"/>
    <p:sldId id="399" r:id="rId28"/>
    <p:sldId id="396" r:id="rId29"/>
    <p:sldId id="405" r:id="rId30"/>
    <p:sldId id="406" r:id="rId31"/>
    <p:sldId id="407" r:id="rId32"/>
    <p:sldId id="409" r:id="rId33"/>
    <p:sldId id="408" r:id="rId34"/>
    <p:sldId id="410" r:id="rId35"/>
    <p:sldId id="411" r:id="rId36"/>
    <p:sldId id="412" r:id="rId37"/>
    <p:sldId id="413" r:id="rId38"/>
    <p:sldId id="439" r:id="rId39"/>
    <p:sldId id="440" r:id="rId40"/>
    <p:sldId id="441" r:id="rId41"/>
    <p:sldId id="415" r:id="rId42"/>
    <p:sldId id="414" r:id="rId4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3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563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5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60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4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8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71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952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1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8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D3B89-9645-4B82-ABD0-7B56309C377D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86204-58C9-4D45-8D60-849848ABF0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61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microsoft.com/office/2007/relationships/hdphoto" Target="../media/hdphoto7.wdp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microsoft.com/office/2007/relationships/hdphoto" Target="../media/hdphoto19.wdp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55762"/>
          </a:xfrm>
        </p:spPr>
        <p:txBody>
          <a:bodyPr>
            <a:normAutofit fontScale="90000"/>
          </a:bodyPr>
          <a:lstStyle/>
          <a:p>
            <a:r>
              <a:rPr lang="ru-RU" dirty="0"/>
              <a:t>Структуры и алгоритмы обработки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428999"/>
            <a:ext cx="6858000" cy="2583873"/>
          </a:xfrm>
        </p:spPr>
        <p:txBody>
          <a:bodyPr>
            <a:normAutofit/>
          </a:bodyPr>
          <a:lstStyle/>
          <a:p>
            <a:r>
              <a:rPr lang="ru-RU" dirty="0"/>
              <a:t>Лекция 2.7:</a:t>
            </a:r>
          </a:p>
          <a:p>
            <a:r>
              <a:rPr lang="ru-RU" dirty="0"/>
              <a:t>Графы (окончание).</a:t>
            </a:r>
          </a:p>
          <a:p>
            <a:r>
              <a:rPr lang="ru-RU" dirty="0"/>
              <a:t>Кодирование и сжатие данных (начало).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978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Остовное</a:t>
            </a:r>
            <a:r>
              <a:rPr lang="ru-RU" dirty="0"/>
              <a:t> (стягивающее, покрывающее) дерево в графе –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54" y="2747507"/>
            <a:ext cx="3392726" cy="2736799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611880" y="1865376"/>
            <a:ext cx="4903470" cy="470001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Можно получить из графа удалением некоторых рёбер</a:t>
            </a:r>
          </a:p>
          <a:p>
            <a:r>
              <a:rPr lang="ru-RU" dirty="0"/>
              <a:t>Может существовать несколько </a:t>
            </a:r>
            <a:r>
              <a:rPr lang="ru-RU" dirty="0" err="1"/>
              <a:t>остовных</a:t>
            </a:r>
            <a:r>
              <a:rPr lang="ru-RU" dirty="0"/>
              <a:t> деревьев</a:t>
            </a:r>
          </a:p>
          <a:p>
            <a:r>
              <a:rPr lang="ru-RU" dirty="0"/>
              <a:t>Во взвешенном графе </a:t>
            </a:r>
            <a:r>
              <a:rPr lang="ru-RU" b="1" dirty="0"/>
              <a:t>вес </a:t>
            </a:r>
            <a:r>
              <a:rPr lang="ru-RU" b="1" dirty="0" err="1"/>
              <a:t>остовного</a:t>
            </a:r>
            <a:r>
              <a:rPr lang="ru-RU" b="1" dirty="0"/>
              <a:t> дерева</a:t>
            </a:r>
            <a:r>
              <a:rPr lang="ru-RU" dirty="0"/>
              <a:t> – это сумма весов всех его </a:t>
            </a:r>
            <a:r>
              <a:rPr lang="ru-RU" dirty="0" err="1"/>
              <a:t>ребёр</a:t>
            </a:r>
            <a:endParaRPr lang="ru-RU" dirty="0"/>
          </a:p>
          <a:p>
            <a:r>
              <a:rPr lang="ru-RU" b="1" dirty="0"/>
              <a:t>Минимальное </a:t>
            </a:r>
            <a:r>
              <a:rPr lang="ru-RU" b="1" dirty="0" err="1"/>
              <a:t>остовное</a:t>
            </a:r>
            <a:r>
              <a:rPr lang="ru-RU" b="1" dirty="0"/>
              <a:t> дерево </a:t>
            </a:r>
            <a:r>
              <a:rPr lang="ru-RU" dirty="0"/>
              <a:t>– с минимальным возможным весом</a:t>
            </a:r>
          </a:p>
          <a:p>
            <a:r>
              <a:rPr lang="ru-RU" dirty="0"/>
              <a:t>Задача – </a:t>
            </a:r>
            <a:r>
              <a:rPr lang="ru-RU" b="1" dirty="0"/>
              <a:t>нахождение минимального </a:t>
            </a:r>
            <a:r>
              <a:rPr lang="ru-RU" dirty="0" err="1"/>
              <a:t>остовного</a:t>
            </a:r>
            <a:r>
              <a:rPr lang="ru-RU" dirty="0"/>
              <a:t> дерева в связном взвешенном неориентированном графе.</a:t>
            </a:r>
          </a:p>
        </p:txBody>
      </p:sp>
    </p:spTree>
    <p:extLst>
      <p:ext uri="{BB962C8B-B14F-4D97-AF65-F5344CB8AC3E}">
        <p14:creationId xmlns:p14="http://schemas.microsoft.com/office/powerpoint/2010/main" val="2759384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97765"/>
          </a:xfrm>
        </p:spPr>
        <p:txBody>
          <a:bodyPr>
            <a:normAutofit/>
          </a:bodyPr>
          <a:lstStyle/>
          <a:p>
            <a:r>
              <a:rPr lang="ru-RU" dirty="0"/>
              <a:t>Пример: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63" y="1813525"/>
            <a:ext cx="2962518" cy="2389765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907792" y="365127"/>
            <a:ext cx="6044184" cy="6035673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ru-RU" dirty="0"/>
              <a:t>Есть </a:t>
            </a:r>
            <a:r>
              <a:rPr lang="ru-RU" b="1" i="1" dirty="0"/>
              <a:t>n</a:t>
            </a:r>
            <a:r>
              <a:rPr lang="ru-RU" b="1" dirty="0"/>
              <a:t> городов</a:t>
            </a:r>
            <a:r>
              <a:rPr lang="ru-RU" dirty="0"/>
              <a:t>, их необходимо соединить </a:t>
            </a:r>
            <a:r>
              <a:rPr lang="ru-RU" b="1" dirty="0"/>
              <a:t>дорогами</a:t>
            </a:r>
            <a:r>
              <a:rPr lang="ru-RU" dirty="0"/>
              <a:t>, так, чтобы был путь из любого города в любой другой (напрямую или через другие города)</a:t>
            </a:r>
          </a:p>
          <a:p>
            <a:pPr lvl="1"/>
            <a:r>
              <a:rPr lang="ru-RU" dirty="0"/>
              <a:t>Разрешается строить дороги между заданными парами городов и известна стоимость строительства каждой такой дороги</a:t>
            </a:r>
          </a:p>
          <a:p>
            <a:pPr lvl="1"/>
            <a:r>
              <a:rPr lang="ru-RU" dirty="0"/>
              <a:t>Требуется решить, какие именно дороги нужно строить, чтобы </a:t>
            </a:r>
            <a:r>
              <a:rPr lang="ru-RU" b="1" dirty="0"/>
              <a:t>минимизировать общую стоимость </a:t>
            </a:r>
            <a:r>
              <a:rPr lang="ru-RU" dirty="0"/>
              <a:t>строительства. </a:t>
            </a:r>
          </a:p>
          <a:p>
            <a:r>
              <a:rPr lang="ru-RU" dirty="0"/>
              <a:t>В терминах </a:t>
            </a:r>
            <a:r>
              <a:rPr lang="ru-RU" b="1" dirty="0"/>
              <a:t>теории графов </a:t>
            </a:r>
            <a:r>
              <a:rPr lang="ru-RU" dirty="0"/>
              <a:t>это задача о нахождении </a:t>
            </a:r>
            <a:r>
              <a:rPr lang="ru-RU" b="1" dirty="0"/>
              <a:t>минимального </a:t>
            </a:r>
            <a:r>
              <a:rPr lang="ru-RU" b="1" dirty="0" err="1"/>
              <a:t>остовного</a:t>
            </a:r>
            <a:r>
              <a:rPr lang="ru-RU" b="1" dirty="0"/>
              <a:t> дерева в графе</a:t>
            </a:r>
            <a:r>
              <a:rPr lang="ru-RU" dirty="0"/>
              <a:t>, вершины которого – города, а рёбра – пары городов, между которыми можно проложить дорогу; вес ребра – это стоимость строительства соответствующей дороги.</a:t>
            </a:r>
          </a:p>
        </p:txBody>
      </p:sp>
    </p:spTree>
    <p:extLst>
      <p:ext uri="{BB962C8B-B14F-4D97-AF65-F5344CB8AC3E}">
        <p14:creationId xmlns:p14="http://schemas.microsoft.com/office/powerpoint/2010/main" val="341604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Решения: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00" y="2848608"/>
            <a:ext cx="2857899" cy="2305372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2468879"/>
            <a:ext cx="3886200" cy="3708083"/>
          </a:xfrm>
        </p:spPr>
        <p:txBody>
          <a:bodyPr>
            <a:normAutofit/>
          </a:bodyPr>
          <a:lstStyle/>
          <a:p>
            <a:r>
              <a:rPr lang="ru-RU" b="1" dirty="0"/>
              <a:t>Алгоритм Прима     </a:t>
            </a:r>
            <a:r>
              <a:rPr lang="ru-RU" dirty="0"/>
              <a:t>→</a:t>
            </a:r>
          </a:p>
          <a:p>
            <a:r>
              <a:rPr lang="ru-RU" b="1" dirty="0"/>
              <a:t>Алгоритм </a:t>
            </a:r>
            <a:r>
              <a:rPr lang="ru-RU" b="1" dirty="0" err="1"/>
              <a:t>Краскала</a:t>
            </a:r>
            <a:endParaRPr lang="ru-RU" b="1" dirty="0"/>
          </a:p>
          <a:p>
            <a:r>
              <a:rPr lang="ru-RU" dirty="0"/>
              <a:t>Алгоритм </a:t>
            </a:r>
            <a:r>
              <a:rPr lang="ru-RU" dirty="0" err="1"/>
              <a:t>Борувки</a:t>
            </a:r>
            <a:endParaRPr lang="ru-RU" dirty="0"/>
          </a:p>
          <a:p>
            <a:r>
              <a:rPr lang="ru-RU" dirty="0"/>
              <a:t>Алгоритм обратного удаления.</a:t>
            </a:r>
          </a:p>
        </p:txBody>
      </p:sp>
    </p:spTree>
    <p:extLst>
      <p:ext uri="{BB962C8B-B14F-4D97-AF65-F5344CB8AC3E}">
        <p14:creationId xmlns:p14="http://schemas.microsoft.com/office/powerpoint/2010/main" val="194447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50206"/>
          </a:xfrm>
        </p:spPr>
        <p:txBody>
          <a:bodyPr/>
          <a:lstStyle/>
          <a:p>
            <a:r>
              <a:rPr lang="ru-RU" dirty="0"/>
              <a:t>Алгоритм Прима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434963" y="1749288"/>
            <a:ext cx="5453005" cy="4724664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Алгоритм построения </a:t>
            </a:r>
            <a:r>
              <a:rPr lang="ru-RU" b="1" dirty="0"/>
              <a:t>минимального </a:t>
            </a:r>
            <a:r>
              <a:rPr lang="ru-RU" b="1" dirty="0" err="1"/>
              <a:t>остовного</a:t>
            </a:r>
            <a:r>
              <a:rPr lang="ru-RU" b="1" dirty="0"/>
              <a:t> дерева </a:t>
            </a:r>
            <a:r>
              <a:rPr lang="ru-RU" dirty="0"/>
              <a:t>(</a:t>
            </a:r>
            <a:r>
              <a:rPr lang="ru-RU" b="1" dirty="0"/>
              <a:t>МОД</a:t>
            </a:r>
            <a:r>
              <a:rPr lang="ru-RU" dirty="0"/>
              <a:t>) взвешенного связного неориентированного графа</a:t>
            </a:r>
          </a:p>
          <a:p>
            <a:r>
              <a:rPr lang="ru-RU" dirty="0" err="1"/>
              <a:t>Войцех</a:t>
            </a:r>
            <a:r>
              <a:rPr lang="ru-RU" dirty="0"/>
              <a:t> </a:t>
            </a:r>
            <a:r>
              <a:rPr lang="ru-RU" dirty="0" err="1"/>
              <a:t>Ярник</a:t>
            </a:r>
            <a:r>
              <a:rPr lang="ru-RU" dirty="0"/>
              <a:t> (1930), Роберт Прим (1957), Э. </a:t>
            </a:r>
            <a:r>
              <a:rPr lang="ru-RU" dirty="0" err="1"/>
              <a:t>Дейкстра</a:t>
            </a:r>
            <a:r>
              <a:rPr lang="ru-RU" dirty="0"/>
              <a:t> (1959)</a:t>
            </a:r>
          </a:p>
          <a:p>
            <a:r>
              <a:rPr lang="ru-RU" dirty="0"/>
              <a:t>В своей идее похож на </a:t>
            </a:r>
            <a:r>
              <a:rPr lang="ru-RU" b="1" dirty="0"/>
              <a:t>алгоритм</a:t>
            </a:r>
            <a:r>
              <a:rPr lang="ru-RU" dirty="0"/>
              <a:t> </a:t>
            </a:r>
            <a:r>
              <a:rPr lang="ru-RU" b="1" dirty="0" err="1"/>
              <a:t>Дейкстры</a:t>
            </a:r>
            <a:endParaRPr lang="ru-RU" b="1" dirty="0"/>
          </a:p>
          <a:p>
            <a:r>
              <a:rPr lang="ru-RU" b="1" dirty="0"/>
              <a:t>Сложность</a:t>
            </a:r>
            <a:r>
              <a:rPr lang="ru-RU" dirty="0"/>
              <a:t> зависит от способа поиска очередного минимального ребра – разные реализации:</a:t>
            </a:r>
            <a:br>
              <a:rPr lang="ru-RU" dirty="0"/>
            </a:br>
            <a:r>
              <a:rPr lang="ru-RU" dirty="0"/>
              <a:t>от </a:t>
            </a:r>
            <a:r>
              <a:rPr lang="en-US" dirty="0"/>
              <a:t>O(n</a:t>
            </a:r>
            <a:r>
              <a:rPr lang="ru-RU" baseline="30000" dirty="0"/>
              <a:t>3</a:t>
            </a:r>
            <a:r>
              <a:rPr lang="en-US" dirty="0"/>
              <a:t>)</a:t>
            </a:r>
            <a:r>
              <a:rPr lang="ru-RU" dirty="0"/>
              <a:t> в худшем случае до (при оптимизации) </a:t>
            </a:r>
            <a:r>
              <a:rPr lang="en-US" dirty="0"/>
              <a:t>O(m</a:t>
            </a:r>
            <a:r>
              <a:rPr lang="ru-RU" dirty="0"/>
              <a:t> · </a:t>
            </a:r>
            <a:r>
              <a:rPr lang="en-US" dirty="0"/>
              <a:t>log</a:t>
            </a:r>
            <a:r>
              <a:rPr lang="ru-RU" dirty="0"/>
              <a:t> </a:t>
            </a:r>
            <a:r>
              <a:rPr lang="en-US" dirty="0"/>
              <a:t>n)</a:t>
            </a:r>
            <a:r>
              <a:rPr lang="ru-RU" dirty="0"/>
              <a:t> в </a:t>
            </a:r>
            <a:r>
              <a:rPr lang="ru-RU" b="1" dirty="0"/>
              <a:t>разреженных</a:t>
            </a:r>
            <a:r>
              <a:rPr lang="ru-RU" dirty="0"/>
              <a:t> графах и </a:t>
            </a:r>
            <a:r>
              <a:rPr lang="en-US" dirty="0"/>
              <a:t>O(n</a:t>
            </a:r>
            <a:r>
              <a:rPr lang="ru-RU" baseline="30000" dirty="0"/>
              <a:t>2</a:t>
            </a:r>
            <a:r>
              <a:rPr lang="en-US" dirty="0"/>
              <a:t>)</a:t>
            </a:r>
            <a:r>
              <a:rPr lang="ru-RU" dirty="0"/>
              <a:t> в </a:t>
            </a:r>
            <a:r>
              <a:rPr lang="ru-RU" b="1" dirty="0"/>
              <a:t>плотных</a:t>
            </a:r>
            <a:r>
              <a:rPr lang="ru-RU" dirty="0"/>
              <a:t>.</a:t>
            </a:r>
          </a:p>
        </p:txBody>
      </p:sp>
      <p:pic>
        <p:nvPicPr>
          <p:cNvPr id="6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02" y="2458596"/>
            <a:ext cx="2857899" cy="2305372"/>
          </a:xfrm>
        </p:spPr>
      </p:pic>
    </p:spTree>
    <p:extLst>
      <p:ext uri="{BB962C8B-B14F-4D97-AF65-F5344CB8AC3E}">
        <p14:creationId xmlns:p14="http://schemas.microsoft.com/office/powerpoint/2010/main" val="3452273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74736"/>
          </a:xfrm>
        </p:spPr>
        <p:txBody>
          <a:bodyPr/>
          <a:lstStyle/>
          <a:p>
            <a:r>
              <a:rPr lang="ru-RU" dirty="0"/>
              <a:t>Идея алгоритма Прима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93242" y="1816480"/>
            <a:ext cx="1219549" cy="1219549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785616" y="1581912"/>
            <a:ext cx="5056632" cy="4892039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Дан связный неориентированный граф</a:t>
            </a:r>
          </a:p>
          <a:p>
            <a:r>
              <a:rPr lang="ru-RU" dirty="0"/>
              <a:t>Если разделить вершины графа на два множества (</a:t>
            </a:r>
            <a:r>
              <a:rPr lang="ru-RU" b="1" dirty="0"/>
              <a:t>обработанные </a:t>
            </a:r>
            <a:r>
              <a:rPr lang="ru-RU" dirty="0"/>
              <a:t>и </a:t>
            </a:r>
            <a:r>
              <a:rPr lang="ru-RU" b="1" dirty="0"/>
              <a:t>необработанные</a:t>
            </a:r>
            <a:r>
              <a:rPr lang="ru-RU" dirty="0"/>
              <a:t>), первое из которых составляет связную часть МОД, то </a:t>
            </a:r>
            <a:r>
              <a:rPr lang="ru-RU" b="1" dirty="0"/>
              <a:t>ребро минимальной длины</a:t>
            </a:r>
            <a:r>
              <a:rPr lang="ru-RU" dirty="0"/>
              <a:t>, связывающее эти два множества гарантированно будет входить в МОД</a:t>
            </a:r>
          </a:p>
          <a:p>
            <a:r>
              <a:rPr lang="ru-RU" dirty="0"/>
              <a:t>Тогда для нахождения МОД можно </a:t>
            </a:r>
            <a:r>
              <a:rPr lang="ru-RU" b="1" dirty="0"/>
              <a:t>начать с произвольной вершины </a:t>
            </a:r>
            <a:r>
              <a:rPr lang="ru-RU" dirty="0"/>
              <a:t>и постепенно добавлять ближайшие (через </a:t>
            </a:r>
            <a:r>
              <a:rPr lang="ru-RU" b="1" dirty="0"/>
              <a:t>инцидентное ребро минимальной стоимости</a:t>
            </a:r>
            <a:r>
              <a:rPr lang="ru-RU" dirty="0"/>
              <a:t>) к уже имеющимся</a:t>
            </a:r>
          </a:p>
          <a:p>
            <a:r>
              <a:rPr lang="ru-RU" dirty="0"/>
              <a:t>Рост дерева происходит до тех пор, пока не будут исчерпаны </a:t>
            </a:r>
            <a:r>
              <a:rPr lang="ru-RU" b="1" dirty="0"/>
              <a:t>все вершины </a:t>
            </a:r>
            <a:r>
              <a:rPr lang="ru-RU" dirty="0"/>
              <a:t>исходного графа.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45" y="2659411"/>
            <a:ext cx="1220958" cy="12151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" y="3530678"/>
            <a:ext cx="1223276" cy="122907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182" y="4408740"/>
            <a:ext cx="1221021" cy="123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4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73368" y="365126"/>
            <a:ext cx="2459736" cy="1673986"/>
          </a:xfrm>
        </p:spPr>
        <p:txBody>
          <a:bodyPr>
            <a:noAutofit/>
          </a:bodyPr>
          <a:lstStyle/>
          <a:p>
            <a:r>
              <a:rPr lang="ru-RU" sz="3200" dirty="0"/>
              <a:t>Реализация алгоритма Прима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729" y="250085"/>
            <a:ext cx="4755448" cy="3578053"/>
          </a:xfrm>
          <a:prstGeom prst="rect">
            <a:avLst/>
          </a:prstGeom>
        </p:spPr>
      </p:pic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29019" y="4380984"/>
            <a:ext cx="3733800" cy="11906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23969" y="2414016"/>
            <a:ext cx="4635627" cy="408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21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</a:t>
            </a:r>
            <a:r>
              <a:rPr lang="ru-RU" dirty="0" err="1"/>
              <a:t>Краскала</a:t>
            </a:r>
            <a:r>
              <a:rPr lang="ru-RU" dirty="0"/>
              <a:t> (</a:t>
            </a:r>
            <a:r>
              <a:rPr lang="ru-RU" dirty="0" err="1"/>
              <a:t>Крускала</a:t>
            </a:r>
            <a:r>
              <a:rPr lang="ru-RU" dirty="0"/>
              <a:t>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078224" y="1825624"/>
            <a:ext cx="4437126" cy="468490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Эффективный алгоритм построения МОД взвешенного связного неориентированного графа</a:t>
            </a:r>
          </a:p>
          <a:p>
            <a:r>
              <a:rPr lang="ru-RU" dirty="0"/>
              <a:t>Предполагает </a:t>
            </a:r>
            <a:r>
              <a:rPr lang="ru-RU" b="1" dirty="0"/>
              <a:t>сортировку всех рёбер </a:t>
            </a:r>
            <a:r>
              <a:rPr lang="ru-RU" dirty="0"/>
              <a:t>в порядке возрастания длины и поочередное добавление их в МОД, если они соединяют </a:t>
            </a:r>
            <a:r>
              <a:rPr lang="ru-RU" b="1" dirty="0"/>
              <a:t>различные компоненты</a:t>
            </a:r>
            <a:r>
              <a:rPr lang="ru-RU" dirty="0"/>
              <a:t> связности</a:t>
            </a:r>
          </a:p>
          <a:p>
            <a:r>
              <a:rPr lang="ru-RU" dirty="0"/>
              <a:t>Общее время работы алгоритма можно принять за </a:t>
            </a:r>
            <a:r>
              <a:rPr lang="ru-RU" i="1" dirty="0"/>
              <a:t>O(</a:t>
            </a:r>
            <a:r>
              <a:rPr lang="en-US" i="1" dirty="0"/>
              <a:t>m </a:t>
            </a:r>
            <a:r>
              <a:rPr lang="ru-RU" i="1" dirty="0"/>
              <a:t>*</a:t>
            </a:r>
            <a:r>
              <a:rPr lang="en-US" i="1" dirty="0"/>
              <a:t> </a:t>
            </a:r>
            <a:r>
              <a:rPr lang="ru-RU" i="1" dirty="0" err="1"/>
              <a:t>log</a:t>
            </a:r>
            <a:r>
              <a:rPr lang="en-US" i="1" dirty="0"/>
              <a:t> m </a:t>
            </a:r>
            <a:r>
              <a:rPr lang="ru-RU" i="1" dirty="0"/>
              <a:t>).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60" y="2473704"/>
            <a:ext cx="2857899" cy="2305372"/>
          </a:xfrm>
        </p:spPr>
      </p:pic>
    </p:spTree>
    <p:extLst>
      <p:ext uri="{BB962C8B-B14F-4D97-AF65-F5344CB8AC3E}">
        <p14:creationId xmlns:p14="http://schemas.microsoft.com/office/powerpoint/2010/main" val="363024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79626"/>
          </a:xfrm>
        </p:spPr>
        <p:txBody>
          <a:bodyPr/>
          <a:lstStyle/>
          <a:p>
            <a:r>
              <a:rPr lang="ru-RU" dirty="0"/>
              <a:t>Идея алгоритма </a:t>
            </a:r>
            <a:r>
              <a:rPr lang="ru-RU" dirty="0" err="1"/>
              <a:t>Краскала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465577" y="1737360"/>
            <a:ext cx="5340096" cy="4690871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Пусть есть некоторые </a:t>
            </a:r>
            <a:r>
              <a:rPr lang="ru-RU" b="1" dirty="0"/>
              <a:t>рёбра</a:t>
            </a:r>
            <a:r>
              <a:rPr lang="ru-RU" dirty="0"/>
              <a:t>, входящие в МОД</a:t>
            </a:r>
          </a:p>
          <a:p>
            <a:r>
              <a:rPr lang="ru-RU" dirty="0"/>
              <a:t>Тогда среди всех рёбер, соединяющих различные компоненты связности, в МОД будет входить ребро с </a:t>
            </a:r>
            <a:r>
              <a:rPr lang="ru-RU" b="1" dirty="0"/>
              <a:t>минимальной длиной</a:t>
            </a:r>
          </a:p>
          <a:p>
            <a:r>
              <a:rPr lang="ru-RU" dirty="0"/>
              <a:t>Для реализации алгоритма необходимо </a:t>
            </a:r>
            <a:r>
              <a:rPr lang="ru-RU" b="1" dirty="0"/>
              <a:t>сортировать рёбра </a:t>
            </a:r>
            <a:r>
              <a:rPr lang="ru-RU" dirty="0"/>
              <a:t>по возрастанию длины и проверять, соединяет ли ребро </a:t>
            </a:r>
            <a:r>
              <a:rPr lang="ru-RU" b="1" dirty="0"/>
              <a:t>две различных компоненты </a:t>
            </a:r>
            <a:r>
              <a:rPr lang="ru-RU" dirty="0"/>
              <a:t>связности</a:t>
            </a:r>
          </a:p>
          <a:p>
            <a:r>
              <a:rPr lang="ru-RU" dirty="0"/>
              <a:t>Поддерживать текущие компоненты связности можно с помощью структуры данных </a:t>
            </a:r>
            <a:r>
              <a:rPr lang="ru-RU" b="1" dirty="0"/>
              <a:t>DSU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ru-RU" b="1" dirty="0"/>
              <a:t>система непересекающихся множеств</a:t>
            </a:r>
            <a:r>
              <a:rPr lang="en-US" dirty="0"/>
              <a:t>)</a:t>
            </a:r>
            <a:r>
              <a:rPr lang="ru-RU" dirty="0"/>
              <a:t>. </a:t>
            </a:r>
            <a:r>
              <a:rPr lang="ru-RU" dirty="0">
                <a:sym typeface="Symbol" panose="05050102010706020507" pitchFamily="18" charset="2"/>
              </a:rPr>
              <a:t>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78" y="2647440"/>
            <a:ext cx="2857899" cy="2305372"/>
          </a:xfrm>
        </p:spPr>
      </p:pic>
    </p:spTree>
    <p:extLst>
      <p:ext uri="{BB962C8B-B14F-4D97-AF65-F5344CB8AC3E}">
        <p14:creationId xmlns:p14="http://schemas.microsoft.com/office/powerpoint/2010/main" val="1091019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Система непересекающихся множеств </a:t>
            </a:r>
            <a:br>
              <a:rPr lang="ru-RU" sz="3200" dirty="0"/>
            </a:br>
            <a:r>
              <a:rPr lang="ru-RU" sz="3200" dirty="0"/>
              <a:t>(англ. </a:t>
            </a:r>
            <a:r>
              <a:rPr lang="ru-RU" sz="3200" dirty="0" err="1"/>
              <a:t>disjoint</a:t>
            </a:r>
            <a:r>
              <a:rPr lang="ru-RU" sz="3200" dirty="0"/>
              <a:t> </a:t>
            </a:r>
            <a:r>
              <a:rPr lang="ru-RU" sz="3200" dirty="0" err="1"/>
              <a:t>set</a:t>
            </a:r>
            <a:r>
              <a:rPr lang="ru-RU" sz="3200" dirty="0"/>
              <a:t> </a:t>
            </a:r>
            <a:r>
              <a:rPr lang="ru-RU" sz="3200" dirty="0" err="1"/>
              <a:t>union</a:t>
            </a:r>
            <a:r>
              <a:rPr lang="ru-RU" sz="3200" dirty="0"/>
              <a:t>, DSU или </a:t>
            </a:r>
            <a:r>
              <a:rPr lang="ru-RU" sz="3200" dirty="0" err="1"/>
              <a:t>Union-Find</a:t>
            </a:r>
            <a:r>
              <a:rPr lang="ru-RU" sz="3200" dirty="0"/>
              <a:t>)</a:t>
            </a:r>
          </a:p>
        </p:txBody>
      </p:sp>
      <p:graphicFrame>
        <p:nvGraphicFramePr>
          <p:cNvPr id="10" name="Объект 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565379"/>
              </p:ext>
            </p:extLst>
          </p:nvPr>
        </p:nvGraphicFramePr>
        <p:xfrm>
          <a:off x="318119" y="2119972"/>
          <a:ext cx="8507761" cy="3968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801280" imgH="4105440" progId="Paint.Picture.1">
                  <p:embed/>
                </p:oleObj>
              </mc:Choice>
              <mc:Fallback>
                <p:oleObj name="Bitmap Image" r:id="rId2" imgW="8801280" imgH="4105440" progId="Paint.Picture.1">
                  <p:embed/>
                  <p:pic>
                    <p:nvPicPr>
                      <p:cNvPr id="9" name="Объект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8119" y="2119972"/>
                        <a:ext cx="8507761" cy="3968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7048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555"/>
          </a:xfrm>
        </p:spPr>
        <p:txBody>
          <a:bodyPr/>
          <a:lstStyle/>
          <a:p>
            <a:r>
              <a:rPr lang="ru-RU" dirty="0"/>
              <a:t>Ранговая эвристика </a:t>
            </a:r>
            <a:r>
              <a:rPr lang="en-US" dirty="0"/>
              <a:t>DSU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186107" y="1367406"/>
            <a:ext cx="4630722" cy="4974671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массиве p – для каждой вершины дерева её непосредственного предка (для корня дерева X – его самого)</a:t>
            </a:r>
          </a:p>
          <a:p>
            <a:r>
              <a:rPr lang="ru-RU" dirty="0"/>
              <a:t>В массиве </a:t>
            </a:r>
            <a:r>
              <a:rPr lang="ru-RU" dirty="0" err="1"/>
              <a:t>Rank</a:t>
            </a:r>
            <a:r>
              <a:rPr lang="ru-RU" dirty="0"/>
              <a:t> – для каждого дерева будет храниться </a:t>
            </a:r>
            <a:r>
              <a:rPr lang="ru-RU" b="1" dirty="0"/>
              <a:t>верхняя граница </a:t>
            </a:r>
            <a:r>
              <a:rPr lang="ru-RU" dirty="0"/>
              <a:t>его высоты, т.е. длиннейшей ветви в нем</a:t>
            </a:r>
          </a:p>
          <a:p>
            <a:r>
              <a:rPr lang="ru-RU" dirty="0"/>
              <a:t>Чтобы не допустить слишком длинных ветвей в DSU, подвешивается более низкое дерево к более высокому</a:t>
            </a:r>
          </a:p>
          <a:p>
            <a:r>
              <a:rPr lang="ru-RU" dirty="0"/>
              <a:t>Если их высоты равны — не важно</a:t>
            </a:r>
          </a:p>
          <a:p>
            <a:r>
              <a:rPr lang="ru-RU" dirty="0"/>
              <a:t>Но в последнем случае новому </a:t>
            </a:r>
            <a:r>
              <a:rPr lang="ru-RU"/>
              <a:t>корню нужно увеличить </a:t>
            </a:r>
            <a:r>
              <a:rPr lang="ru-RU" dirty="0" err="1"/>
              <a:t>Rank</a:t>
            </a:r>
            <a:r>
              <a:rPr lang="ru-RU" dirty="0"/>
              <a:t>.</a:t>
            </a:r>
          </a:p>
        </p:txBody>
      </p:sp>
      <p:pic>
        <p:nvPicPr>
          <p:cNvPr id="2050" name="Picture 2" descr="https://habrastorage.org/r/w1560/storage/cd47e0f0/32a74c66/8bba86dd/9ff33ea2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999037"/>
            <a:ext cx="3339343" cy="344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98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05890"/>
          </a:xfrm>
        </p:spPr>
        <p:txBody>
          <a:bodyPr/>
          <a:lstStyle/>
          <a:p>
            <a:r>
              <a:rPr lang="ru-RU" dirty="0"/>
              <a:t>Иллюстрация работы алгоритма</a:t>
            </a:r>
          </a:p>
        </p:txBody>
      </p:sp>
      <p:pic>
        <p:nvPicPr>
          <p:cNvPr id="10" name="Объект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4070" y="1417320"/>
            <a:ext cx="8431455" cy="499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96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Шаги алгоритма </a:t>
            </a:r>
            <a:r>
              <a:rPr lang="ru-RU" dirty="0" err="1"/>
              <a:t>Краскала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2869" y="1825625"/>
            <a:ext cx="2507933" cy="1927462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Сортировать все рёбра от малого веса до высокого</a:t>
            </a:r>
          </a:p>
          <a:p>
            <a:r>
              <a:rPr lang="ru-RU" dirty="0"/>
              <a:t>Взять ребро с наименьшим весом и добавить его в МОД</a:t>
            </a:r>
          </a:p>
          <a:p>
            <a:r>
              <a:rPr lang="ru-RU" dirty="0"/>
              <a:t>Если добавление ребра создало цикл, то отклонить это ребро</a:t>
            </a:r>
          </a:p>
          <a:p>
            <a:r>
              <a:rPr lang="ru-RU" dirty="0"/>
              <a:t>Добавлять рёбра, пока не будут достигнуты все вершины. </a:t>
            </a: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974" y="4108179"/>
            <a:ext cx="2508770" cy="185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52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89320" y="365126"/>
            <a:ext cx="2526030" cy="1335658"/>
          </a:xfrm>
        </p:spPr>
        <p:txBody>
          <a:bodyPr>
            <a:normAutofit/>
          </a:bodyPr>
          <a:lstStyle/>
          <a:p>
            <a:r>
              <a:rPr lang="ru-RU" sz="3600" dirty="0"/>
              <a:t>Реализация алгоритма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882" y="244807"/>
            <a:ext cx="4805172" cy="4759042"/>
          </a:xfrm>
          <a:prstGeom prst="rect">
            <a:avLst/>
          </a:prstGeom>
        </p:spPr>
      </p:pic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87365" y="2706624"/>
            <a:ext cx="4921177" cy="387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47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Топологическая сортировка</a:t>
            </a:r>
          </a:p>
        </p:txBody>
      </p:sp>
      <p:pic>
        <p:nvPicPr>
          <p:cNvPr id="13" name="Объект 4">
            <a:extLst>
              <a:ext uri="{FF2B5EF4-FFF2-40B4-BE49-F238E27FC236}">
                <a16:creationId xmlns:a16="http://schemas.microsoft.com/office/drawing/2014/main" id="{3336CC20-E712-41B0-878A-233400125D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54759" y="2504304"/>
            <a:ext cx="3886200" cy="2532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Это </a:t>
            </a:r>
            <a:r>
              <a:rPr lang="ru-RU" dirty="0" err="1"/>
              <a:t>графовый</a:t>
            </a:r>
            <a:r>
              <a:rPr lang="ru-RU" dirty="0"/>
              <a:t> метод, используемый для </a:t>
            </a:r>
            <a:r>
              <a:rPr lang="ru-RU" b="1" dirty="0"/>
              <a:t>перестановки</a:t>
            </a:r>
            <a:r>
              <a:rPr lang="ru-RU" dirty="0"/>
              <a:t> (расстановки, нумерации) </a:t>
            </a:r>
            <a:r>
              <a:rPr lang="ru-RU" b="1" dirty="0"/>
              <a:t>элементов</a:t>
            </a:r>
            <a:r>
              <a:rPr lang="ru-RU" dirty="0"/>
              <a:t> (вершин) в определённом </a:t>
            </a:r>
            <a:r>
              <a:rPr lang="ru-RU" b="1" dirty="0"/>
              <a:t>порядке</a:t>
            </a:r>
            <a:r>
              <a:rPr lang="ru-RU" dirty="0"/>
              <a:t>, задаваемом всеми рёбрами (</a:t>
            </a:r>
            <a:r>
              <a:rPr lang="ru-RU" b="1" dirty="0"/>
              <a:t>топологический порядок</a:t>
            </a:r>
            <a:r>
              <a:rPr lang="ru-RU" dirty="0"/>
              <a:t>) </a:t>
            </a:r>
          </a:p>
          <a:p>
            <a:r>
              <a:rPr lang="ru-RU" dirty="0"/>
              <a:t>Например, планирование операций (см. анализ критических путей).</a:t>
            </a:r>
          </a:p>
        </p:txBody>
      </p:sp>
    </p:spTree>
    <p:extLst>
      <p:ext uri="{BB962C8B-B14F-4D97-AF65-F5344CB8AC3E}">
        <p14:creationId xmlns:p14="http://schemas.microsoft.com/office/powerpoint/2010/main" val="3728500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95841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85673" y="535709"/>
            <a:ext cx="4449133" cy="5965675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ru-RU" sz="2400" b="1" dirty="0"/>
              <a:t>Условная</a:t>
            </a:r>
            <a:r>
              <a:rPr lang="ru-RU" sz="2400" dirty="0"/>
              <a:t> структура курсов, необходимых для получения некой учёной степени</a:t>
            </a:r>
          </a:p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ru-RU" sz="2400" dirty="0"/>
              <a:t>Здесь для некоторых курсов обязательно прохождение других курсов</a:t>
            </a:r>
          </a:p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ru-RU" sz="2400" dirty="0"/>
              <a:t>Представить такую структуру можно </a:t>
            </a:r>
            <a:r>
              <a:rPr lang="ru-RU" sz="2400" b="1" dirty="0"/>
              <a:t>направленным графом</a:t>
            </a:r>
            <a:endParaRPr lang="ru-RU" sz="2400" dirty="0"/>
          </a:p>
          <a:p>
            <a:pPr>
              <a:spcBef>
                <a:spcPts val="0"/>
              </a:spcBef>
            </a:pPr>
            <a:r>
              <a:rPr lang="ru-RU" sz="2400" dirty="0"/>
              <a:t>Нужно вывести</a:t>
            </a:r>
            <a:r>
              <a:rPr lang="ru-RU" sz="2400" b="1" dirty="0"/>
              <a:t> порядок прохождения курсов </a:t>
            </a:r>
            <a:r>
              <a:rPr lang="ru-RU" sz="2400" dirty="0"/>
              <a:t>для получения учёной степени</a:t>
            </a:r>
          </a:p>
          <a:p>
            <a:pPr>
              <a:spcBef>
                <a:spcPts val="0"/>
              </a:spcBef>
            </a:pPr>
            <a:r>
              <a:rPr lang="ru-RU" sz="2400" dirty="0"/>
              <a:t>Список курсов должен получиться в порядке их прохождения, искомая </a:t>
            </a:r>
            <a:r>
              <a:rPr lang="ru-RU" sz="2400" b="1" dirty="0"/>
              <a:t>цель – в конце </a:t>
            </a:r>
            <a:r>
              <a:rPr lang="ru-RU" sz="2400" dirty="0"/>
              <a:t>этого списка</a:t>
            </a:r>
          </a:p>
          <a:p>
            <a:pPr>
              <a:spcBef>
                <a:spcPts val="0"/>
              </a:spcBef>
            </a:pPr>
            <a:r>
              <a:rPr lang="ru-RU" sz="2400" u="sng" dirty="0"/>
              <a:t>Пример</a:t>
            </a:r>
            <a:r>
              <a:rPr lang="ru-RU" sz="2400" dirty="0"/>
              <a:t> – один из вариантов: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400" dirty="0"/>
              <a:t>ABEDGCFH</a:t>
            </a:r>
            <a:endParaRPr lang="ru-RU" sz="2400" dirty="0"/>
          </a:p>
          <a:p>
            <a:pPr>
              <a:spcBef>
                <a:spcPts val="0"/>
              </a:spcBef>
            </a:pPr>
            <a:r>
              <a:rPr lang="ru-RU" sz="2400" dirty="0"/>
              <a:t>Такой граф – </a:t>
            </a:r>
            <a:r>
              <a:rPr lang="ru-RU" sz="2400" b="1" dirty="0" err="1"/>
              <a:t>топологически</a:t>
            </a:r>
            <a:r>
              <a:rPr lang="ru-RU" sz="2400" b="1" dirty="0"/>
              <a:t> отсортированный</a:t>
            </a:r>
            <a:r>
              <a:rPr lang="ru-RU" sz="2400" dirty="0"/>
              <a:t>.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77480BB-B247-4781-8563-53A4A2A20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59" y="1345694"/>
            <a:ext cx="3527920" cy="4351338"/>
          </a:xfrm>
          <a:prstGeom prst="rect">
            <a:avLst/>
          </a:prstGeom>
        </p:spPr>
      </p:pic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D9A7092A-148E-4129-A87B-D94073F10AA3}"/>
              </a:ext>
            </a:extLst>
          </p:cNvPr>
          <p:cNvSpPr/>
          <p:nvPr/>
        </p:nvSpPr>
        <p:spPr>
          <a:xfrm>
            <a:off x="1930401" y="3315856"/>
            <a:ext cx="424872" cy="350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: вниз 8">
            <a:extLst>
              <a:ext uri="{FF2B5EF4-FFF2-40B4-BE49-F238E27FC236}">
                <a16:creationId xmlns:a16="http://schemas.microsoft.com/office/drawing/2014/main" id="{DE8F18BF-F09D-4973-B245-FA335842E3D8}"/>
              </a:ext>
            </a:extLst>
          </p:cNvPr>
          <p:cNvSpPr/>
          <p:nvPr/>
        </p:nvSpPr>
        <p:spPr>
          <a:xfrm>
            <a:off x="1925786" y="5795828"/>
            <a:ext cx="424872" cy="3509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FFE01F-5AFB-4F20-B2BF-0D5995579284}"/>
              </a:ext>
            </a:extLst>
          </p:cNvPr>
          <p:cNvSpPr txBox="1"/>
          <p:nvPr/>
        </p:nvSpPr>
        <p:spPr>
          <a:xfrm>
            <a:off x="1500913" y="6146810"/>
            <a:ext cx="1274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ABEDGCFH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3168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06550"/>
          </a:xfrm>
        </p:spPr>
        <p:txBody>
          <a:bodyPr/>
          <a:lstStyle/>
          <a:p>
            <a:r>
              <a:rPr lang="ru-RU" dirty="0"/>
              <a:t>Топологический порядок – 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400" y="1907921"/>
            <a:ext cx="2832087" cy="1996567"/>
          </a:xfrm>
          <a:prstGeom prst="rect">
            <a:avLst/>
          </a:prstGeo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233672" y="1618488"/>
            <a:ext cx="4535424" cy="488289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Это </a:t>
            </a:r>
            <a:r>
              <a:rPr lang="ru-RU" b="1" dirty="0"/>
              <a:t>перестановка вершин </a:t>
            </a:r>
            <a:r>
              <a:rPr lang="ru-RU" dirty="0"/>
              <a:t>в соответствии с порядком, задаваемым </a:t>
            </a:r>
            <a:r>
              <a:rPr lang="ru-RU" b="1" dirty="0"/>
              <a:t>всеми рёбрами </a:t>
            </a:r>
            <a:r>
              <a:rPr lang="ru-RU" dirty="0"/>
              <a:t>графа</a:t>
            </a:r>
          </a:p>
          <a:p>
            <a:r>
              <a:rPr lang="ru-RU" b="1" dirty="0"/>
              <a:t>Перестановка</a:t>
            </a:r>
            <a:r>
              <a:rPr lang="ru-RU" dirty="0"/>
              <a:t> – требуется перенумеровать вершины графа так, чтобы каждое ребро вело из вершины с </a:t>
            </a:r>
            <a:r>
              <a:rPr lang="ru-RU" b="1" dirty="0"/>
              <a:t>меньшим номером </a:t>
            </a:r>
            <a:r>
              <a:rPr lang="ru-RU" dirty="0"/>
              <a:t>в вершину с </a:t>
            </a:r>
            <a:r>
              <a:rPr lang="ru-RU" b="1" dirty="0"/>
              <a:t>большим </a:t>
            </a:r>
          </a:p>
          <a:p>
            <a:r>
              <a:rPr lang="ru-RU" dirty="0"/>
              <a:t>В примере с учебным планом – порядок прохождения курсов</a:t>
            </a:r>
          </a:p>
          <a:p>
            <a:r>
              <a:rPr lang="ru-RU" dirty="0"/>
              <a:t>У графа может быть </a:t>
            </a:r>
            <a:r>
              <a:rPr lang="ru-RU" b="1" dirty="0"/>
              <a:t>несколько способов</a:t>
            </a:r>
            <a:r>
              <a:rPr lang="ru-RU" dirty="0"/>
              <a:t> топологической сортировки (пример - несвязный), а может не быть </a:t>
            </a:r>
            <a:r>
              <a:rPr lang="ru-RU" b="1" dirty="0"/>
              <a:t>ни одного </a:t>
            </a:r>
            <a:r>
              <a:rPr lang="ru-RU" dirty="0"/>
              <a:t>(пример – цикл).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43" y="4258437"/>
            <a:ext cx="22860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91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7F5E4-2922-415A-9095-302825FC6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топологической сортировки: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429DEBF-7BA0-45DF-AA65-229B9C966C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8650" y="2419927"/>
            <a:ext cx="3306926" cy="2154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21D1A534-A2B3-4503-BF0A-836E5385D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2615141"/>
            <a:ext cx="4525818" cy="3561821"/>
          </a:xfrm>
        </p:spPr>
        <p:txBody>
          <a:bodyPr/>
          <a:lstStyle/>
          <a:p>
            <a:r>
              <a:rPr lang="ru-RU" dirty="0"/>
              <a:t>Алгоритм Кана</a:t>
            </a:r>
          </a:p>
          <a:p>
            <a:r>
              <a:rPr lang="ru-RU" dirty="0"/>
              <a:t>Алгоритм </a:t>
            </a:r>
            <a:r>
              <a:rPr lang="ru-RU" dirty="0" err="1"/>
              <a:t>Тарьяна</a:t>
            </a:r>
            <a:endParaRPr lang="ru-RU" dirty="0"/>
          </a:p>
          <a:p>
            <a:r>
              <a:rPr lang="ru-RU" dirty="0"/>
              <a:t>Алгоритм на основе </a:t>
            </a:r>
            <a:r>
              <a:rPr lang="ru-RU" b="1" dirty="0"/>
              <a:t>поиска в глубину </a:t>
            </a:r>
            <a:r>
              <a:rPr lang="ru-RU" dirty="0"/>
              <a:t>(</a:t>
            </a:r>
            <a:r>
              <a:rPr lang="en-US" dirty="0"/>
              <a:t>DFS</a:t>
            </a:r>
            <a:r>
              <a:rPr lang="ru-RU" dirty="0"/>
              <a:t>). →</a:t>
            </a:r>
          </a:p>
        </p:txBody>
      </p:sp>
    </p:spTree>
    <p:extLst>
      <p:ext uri="{BB962C8B-B14F-4D97-AF65-F5344CB8AC3E}">
        <p14:creationId xmlns:p14="http://schemas.microsoft.com/office/powerpoint/2010/main" val="3329780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Алгоритм топологической сортировки ациклического графа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56032" y="1825624"/>
            <a:ext cx="4258818" cy="4739767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Будем присваивать номера в убывающем порядке: от самого большого к самому малому, используя </a:t>
            </a:r>
            <a:r>
              <a:rPr lang="ru-RU" b="1" dirty="0"/>
              <a:t>обход в глубину </a:t>
            </a:r>
            <a:r>
              <a:rPr lang="ru-RU" dirty="0"/>
              <a:t>(</a:t>
            </a:r>
            <a:r>
              <a:rPr lang="en-US" dirty="0"/>
              <a:t>DFS</a:t>
            </a:r>
            <a:r>
              <a:rPr lang="ru-RU" dirty="0"/>
              <a:t>)</a:t>
            </a:r>
          </a:p>
          <a:p>
            <a:r>
              <a:rPr lang="ru-RU" dirty="0"/>
              <a:t>Начнём с вершины </a:t>
            </a:r>
            <a:r>
              <a:rPr lang="ru-RU" b="1" dirty="0"/>
              <a:t>v</a:t>
            </a:r>
          </a:p>
          <a:p>
            <a:r>
              <a:rPr lang="ru-RU" dirty="0"/>
              <a:t>Сначала присвоим номера всем дочерним вершинам (рекурсивно), которые их ещё не имеют (некоторые уже могут иметь номера, так как их могли посетить раньше)</a:t>
            </a:r>
          </a:p>
          <a:p>
            <a:r>
              <a:rPr lang="ru-RU" dirty="0"/>
              <a:t>Тогда все дочерние вершины у </a:t>
            </a:r>
            <a:r>
              <a:rPr lang="en-US" b="1" dirty="0"/>
              <a:t>v</a:t>
            </a:r>
            <a:r>
              <a:rPr lang="ru-RU" dirty="0"/>
              <a:t> (и, рекурсивно, все их поддеревья) будут пронумерованы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203954" cy="473976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Присвоим следующий номер текущей вершине </a:t>
            </a:r>
            <a:r>
              <a:rPr lang="en-US" b="1" dirty="0"/>
              <a:t>v </a:t>
            </a:r>
            <a:r>
              <a:rPr lang="ru-RU" dirty="0"/>
              <a:t>: он будет меньше всех номеров вершин поддерева по определению</a:t>
            </a:r>
          </a:p>
          <a:p>
            <a:r>
              <a:rPr lang="ru-RU" dirty="0"/>
              <a:t>Применяем этот алгоритм для всех вершин, ещё </a:t>
            </a:r>
            <a:r>
              <a:rPr lang="ru-RU" b="1" dirty="0"/>
              <a:t>не посещённых </a:t>
            </a:r>
            <a:r>
              <a:rPr lang="ru-RU" dirty="0"/>
              <a:t>ранее, по очереди</a:t>
            </a:r>
          </a:p>
          <a:p>
            <a:r>
              <a:rPr lang="ru-RU" dirty="0"/>
              <a:t>Вместо явного присваивания вершинам номеров, будем </a:t>
            </a:r>
            <a:r>
              <a:rPr lang="ru-RU" b="1" dirty="0"/>
              <a:t>добавлять их в массив </a:t>
            </a:r>
            <a:r>
              <a:rPr lang="ru-RU" dirty="0"/>
              <a:t>по мере нумерации</a:t>
            </a:r>
          </a:p>
          <a:p>
            <a:r>
              <a:rPr lang="ru-RU" dirty="0"/>
              <a:t>В итоге в массиве будут содержаться все вершины в порядке убывания их номера</a:t>
            </a:r>
          </a:p>
          <a:p>
            <a:r>
              <a:rPr lang="ru-RU" b="1" dirty="0"/>
              <a:t>Развернём массив</a:t>
            </a:r>
            <a:r>
              <a:rPr lang="ru-RU" dirty="0"/>
              <a:t>, и получим топологическую сортировку.</a:t>
            </a:r>
          </a:p>
        </p:txBody>
      </p:sp>
    </p:spTree>
    <p:extLst>
      <p:ext uri="{BB962C8B-B14F-4D97-AF65-F5344CB8AC3E}">
        <p14:creationId xmlns:p14="http://schemas.microsoft.com/office/powerpoint/2010/main" val="3612671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6648" y="408108"/>
            <a:ext cx="5777263" cy="603403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6400" y="365127"/>
            <a:ext cx="3028950" cy="1299082"/>
          </a:xfrm>
        </p:spPr>
        <p:txBody>
          <a:bodyPr/>
          <a:lstStyle/>
          <a:p>
            <a:r>
              <a:rPr lang="ru-RU" dirty="0"/>
              <a:t>Реализация 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3188528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13. Алгоритмы сжатия и кодирования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429843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ru-RU" dirty="0"/>
              <a:t>Информация (1/2)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" y="1484784"/>
            <a:ext cx="3514725" cy="30289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427984" y="1135285"/>
            <a:ext cx="4320480" cy="4525963"/>
          </a:xfrm>
        </p:spPr>
        <p:txBody>
          <a:bodyPr/>
          <a:lstStyle/>
          <a:p>
            <a:pPr marL="0" indent="0" algn="r">
              <a:spcBef>
                <a:spcPts val="600"/>
              </a:spcBef>
              <a:buNone/>
            </a:pPr>
            <a:r>
              <a:rPr lang="ru-RU" sz="3200" b="1" i="1" dirty="0"/>
              <a:t>«Информация </a:t>
            </a:r>
            <a:r>
              <a:rPr lang="ru-RU" sz="3200" b="1" dirty="0"/>
              <a:t>–</a:t>
            </a:r>
            <a:r>
              <a:rPr lang="ru-RU" sz="3200" b="1" i="1" dirty="0"/>
              <a:t> это не материя и не энергия, информация </a:t>
            </a:r>
            <a:r>
              <a:rPr lang="ru-RU" sz="3200" b="1" dirty="0"/>
              <a:t>–</a:t>
            </a:r>
            <a:r>
              <a:rPr lang="ru-RU" sz="3200" b="1" i="1" dirty="0"/>
              <a:t> это информация.»</a:t>
            </a:r>
          </a:p>
          <a:p>
            <a:pPr marL="0" indent="0" algn="r">
              <a:lnSpc>
                <a:spcPct val="90000"/>
              </a:lnSpc>
              <a:spcBef>
                <a:spcPts val="600"/>
              </a:spcBef>
              <a:buNone/>
            </a:pPr>
            <a:r>
              <a:rPr lang="ru-RU" i="1" dirty="0">
                <a:effectLst/>
              </a:rPr>
              <a:t>Н. Винер, «Кибернетика, или управление и связь в животном и машине», 1948 г.</a:t>
            </a:r>
          </a:p>
          <a:p>
            <a:pPr>
              <a:spcBef>
                <a:spcPts val="600"/>
              </a:spcBef>
            </a:pPr>
            <a:endParaRPr lang="ru-RU" sz="3200" dirty="0"/>
          </a:p>
          <a:p>
            <a:pPr>
              <a:spcBef>
                <a:spcPts val="600"/>
              </a:spcBef>
            </a:pP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E23C-6D03-4FC7-A895-3C144FC4EBCC}" type="slidenum">
              <a:rPr lang="es-ES" altLang="ru-RU" smtClean="0">
                <a:solidFill>
                  <a:schemeClr val="bg1"/>
                </a:solidFill>
              </a:rPr>
              <a:pPr/>
              <a:t>22</a:t>
            </a:fld>
            <a:endParaRPr lang="es-ES" altLang="ru-RU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4797152"/>
            <a:ext cx="410445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b="1" dirty="0" err="1"/>
              <a:t>Норберт</a:t>
            </a:r>
            <a:r>
              <a:rPr lang="ru-RU" b="1" dirty="0"/>
              <a:t> Винер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(1894 – 1964)</a:t>
            </a: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lang="ru-RU" dirty="0"/>
              <a:t>американский математик, основоположник кибернетики и теории искусственного интеллекта</a:t>
            </a:r>
          </a:p>
        </p:txBody>
      </p:sp>
    </p:spTree>
    <p:extLst>
      <p:ext uri="{BB962C8B-B14F-4D97-AF65-F5344CB8AC3E}">
        <p14:creationId xmlns:p14="http://schemas.microsoft.com/office/powerpoint/2010/main" val="418553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(2/2)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593131"/>
            <a:ext cx="4137778" cy="4763220"/>
          </a:xfrm>
        </p:spPr>
        <p:txBody>
          <a:bodyPr>
            <a:noAutofit/>
          </a:bodyPr>
          <a:lstStyle/>
          <a:p>
            <a:r>
              <a:rPr lang="ru-RU" sz="2700" dirty="0"/>
              <a:t>Это первичное, </a:t>
            </a:r>
            <a:r>
              <a:rPr lang="ru-RU" sz="2700" b="1" dirty="0"/>
              <a:t>неопределяемое</a:t>
            </a:r>
            <a:r>
              <a:rPr lang="ru-RU" sz="2700" dirty="0"/>
              <a:t> понятие в информатике</a:t>
            </a:r>
          </a:p>
          <a:p>
            <a:r>
              <a:rPr lang="ru-RU" sz="2700" b="1" dirty="0"/>
              <a:t>Уменьшает неопределенность </a:t>
            </a:r>
            <a:r>
              <a:rPr lang="ru-RU" sz="2700" dirty="0"/>
              <a:t>состояния объекта, процесса или явления</a:t>
            </a:r>
          </a:p>
          <a:p>
            <a:r>
              <a:rPr lang="ru-RU" sz="2700" b="1" dirty="0"/>
              <a:t>Количество информации </a:t>
            </a:r>
            <a:r>
              <a:rPr lang="ru-RU" sz="2700" dirty="0"/>
              <a:t>– мера уменьшения неопределенности.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60C99-CE55-4B05-A9B1-EED1DEADEE51}" type="slidenum">
              <a:rPr lang="es-ES" altLang="ru-RU" smtClean="0"/>
              <a:pPr/>
              <a:t>23</a:t>
            </a:fld>
            <a:endParaRPr lang="es-ES" altLang="ru-RU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49" y="2852936"/>
            <a:ext cx="4186843" cy="2016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322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485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4200" dirty="0"/>
              <a:t>Данные = смысл, облечённый в форму</a:t>
            </a:r>
          </a:p>
        </p:txBody>
      </p:sp>
      <p:pic>
        <p:nvPicPr>
          <p:cNvPr id="2" name="Объект 1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44" y="1844824"/>
            <a:ext cx="2367211" cy="29577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Объект 6"/>
          <p:cNvSpPr>
            <a:spLocks noGrp="1"/>
          </p:cNvSpPr>
          <p:nvPr>
            <p:ph sz="half" idx="2"/>
          </p:nvPr>
        </p:nvSpPr>
        <p:spPr>
          <a:xfrm>
            <a:off x="3851920" y="2040955"/>
            <a:ext cx="5040560" cy="4296171"/>
          </a:xfrm>
        </p:spPr>
        <p:txBody>
          <a:bodyPr>
            <a:normAutofit/>
          </a:bodyPr>
          <a:lstStyle/>
          <a:p>
            <a:pPr marL="468312" indent="-457200">
              <a:spcBef>
                <a:spcPts val="1200"/>
              </a:spcBef>
            </a:pPr>
            <a:r>
              <a:rPr lang="ru-RU" sz="2500" b="1" dirty="0"/>
              <a:t>Смысл</a:t>
            </a:r>
            <a:r>
              <a:rPr lang="ru-RU" sz="2500" dirty="0"/>
              <a:t> (семантика) – это значение информации, постигаемое только </a:t>
            </a:r>
            <a:r>
              <a:rPr lang="ru-RU" sz="2500" b="1" dirty="0"/>
              <a:t>разумом</a:t>
            </a:r>
            <a:endParaRPr lang="ru-RU" sz="2500" dirty="0"/>
          </a:p>
          <a:p>
            <a:pPr marL="468312" indent="-457200">
              <a:spcBef>
                <a:spcPts val="1200"/>
              </a:spcBef>
            </a:pPr>
            <a:r>
              <a:rPr lang="ru-RU" sz="2500" b="1" dirty="0"/>
              <a:t>Форма </a:t>
            </a:r>
            <a:r>
              <a:rPr lang="ru-RU" sz="2500" dirty="0"/>
              <a:t>(синтаксис) – способ представления и передачи информации</a:t>
            </a:r>
            <a:endParaRPr lang="ru-RU" sz="2500" b="1" dirty="0"/>
          </a:p>
          <a:p>
            <a:pPr marL="468312" indent="-457200">
              <a:spcBef>
                <a:spcPts val="1200"/>
              </a:spcBef>
            </a:pPr>
            <a:r>
              <a:rPr lang="ru-RU" sz="2500" u="sng" dirty="0"/>
              <a:t>Для технических систем </a:t>
            </a:r>
            <a:r>
              <a:rPr lang="ru-RU" sz="2500" b="1" dirty="0"/>
              <a:t>имеет значение только форма представления информации</a:t>
            </a:r>
            <a:r>
              <a:rPr lang="ru-RU" sz="2500" dirty="0"/>
              <a:t> без учета её смысла.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337126"/>
            <a:ext cx="2133600" cy="476250"/>
          </a:xfrm>
        </p:spPr>
        <p:txBody>
          <a:bodyPr/>
          <a:lstStyle/>
          <a:p>
            <a:fld id="{DFCBE23C-6D03-4FC7-A895-3C144FC4EBCC}" type="slidenum">
              <a:rPr lang="es-ES" altLang="ru-RU" smtClean="0"/>
              <a:pPr/>
              <a:t>24</a:t>
            </a:fld>
            <a:endParaRPr lang="es-ES" altLang="ru-RU"/>
          </a:p>
        </p:txBody>
      </p:sp>
      <p:sp>
        <p:nvSpPr>
          <p:cNvPr id="6" name="TextBox 5"/>
          <p:cNvSpPr txBox="1"/>
          <p:nvPr/>
        </p:nvSpPr>
        <p:spPr>
          <a:xfrm>
            <a:off x="251520" y="4995901"/>
            <a:ext cx="4104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Клод Шеннон</a:t>
            </a:r>
            <a:r>
              <a:rPr lang="ru-RU" dirty="0"/>
              <a:t> </a:t>
            </a:r>
            <a:br>
              <a:rPr lang="ru-RU" dirty="0"/>
            </a:br>
            <a:r>
              <a:rPr lang="ru-RU" dirty="0"/>
              <a:t>(1916 – 2001)</a:t>
            </a:r>
          </a:p>
          <a:p>
            <a:pPr algn="ctr">
              <a:spcBef>
                <a:spcPts val="0"/>
              </a:spcBef>
            </a:pPr>
            <a:r>
              <a:rPr lang="ru-RU" dirty="0"/>
              <a:t>американский математик и инженер, основоположник теории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105719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dirty="0"/>
              <a:t>Информационный сигнал</a:t>
            </a:r>
            <a:endParaRPr lang="ru-RU" u="sng" dirty="0"/>
          </a:p>
        </p:txBody>
      </p:sp>
      <p:pic>
        <p:nvPicPr>
          <p:cNvPr id="2" name="Объект 1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90994"/>
            <a:ext cx="3826768" cy="22942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4499992" y="1196752"/>
            <a:ext cx="4398640" cy="4713387"/>
          </a:xfrm>
        </p:spPr>
        <p:txBody>
          <a:bodyPr>
            <a:noAutofit/>
          </a:bodyPr>
          <a:lstStyle/>
          <a:p>
            <a:pPr>
              <a:lnSpc>
                <a:spcPct val="95000"/>
              </a:lnSpc>
              <a:spcBef>
                <a:spcPts val="600"/>
              </a:spcBef>
            </a:pPr>
            <a:r>
              <a:rPr lang="ru-RU" sz="2500" dirty="0"/>
              <a:t>Информации не существует без </a:t>
            </a:r>
            <a:r>
              <a:rPr lang="ru-RU" sz="2500" b="1" dirty="0"/>
              <a:t>материи </a:t>
            </a:r>
            <a:r>
              <a:rPr lang="ru-RU" sz="2500" dirty="0"/>
              <a:t>(без материального носителя)</a:t>
            </a:r>
            <a:endParaRPr lang="ru-RU" sz="2500" b="1" dirty="0"/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lang="ru-RU" sz="2500" b="1" dirty="0"/>
              <a:t>Сигнал</a:t>
            </a:r>
            <a:r>
              <a:rPr lang="ru-RU" sz="2500" dirty="0"/>
              <a:t> – это физический </a:t>
            </a:r>
            <a:r>
              <a:rPr lang="ru-RU" sz="2500" b="1" u="sng" dirty="0"/>
              <a:t>процесс</a:t>
            </a:r>
            <a:r>
              <a:rPr lang="ru-RU" sz="2500" b="1" dirty="0"/>
              <a:t> передачи </a:t>
            </a:r>
            <a:r>
              <a:rPr lang="ru-RU" sz="2500" dirty="0"/>
              <a:t>в пространстве </a:t>
            </a:r>
            <a:r>
              <a:rPr lang="ru-RU" sz="2500" b="1" dirty="0"/>
              <a:t>материи</a:t>
            </a:r>
            <a:r>
              <a:rPr lang="ru-RU" sz="2500" dirty="0"/>
              <a:t> (вещества или поля), несущей в себе информацию</a:t>
            </a:r>
          </a:p>
          <a:p>
            <a:pPr>
              <a:lnSpc>
                <a:spcPct val="95000"/>
              </a:lnSpc>
              <a:spcBef>
                <a:spcPts val="600"/>
              </a:spcBef>
            </a:pPr>
            <a:r>
              <a:rPr lang="ru-RU" sz="2500" dirty="0"/>
              <a:t>Математическая модель сигнала – это </a:t>
            </a:r>
            <a:r>
              <a:rPr lang="ru-RU" sz="2500" b="1" dirty="0"/>
              <a:t>функция </a:t>
            </a:r>
            <a:r>
              <a:rPr lang="ru-RU" sz="2500" dirty="0"/>
              <a:t>характеризующего сигнал физического параметра </a:t>
            </a:r>
            <a:r>
              <a:rPr lang="ru-RU" sz="2500" b="1" dirty="0"/>
              <a:t>от времени.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BE23C-6D03-4FC7-A895-3C144FC4EBCC}" type="slidenum">
              <a:rPr lang="es-ES" altLang="ru-RU" smtClean="0"/>
              <a:pPr/>
              <a:t>25</a:t>
            </a:fld>
            <a:endParaRPr lang="es-ES" altLang="ru-RU"/>
          </a:p>
        </p:txBody>
      </p:sp>
    </p:spTree>
    <p:extLst>
      <p:ext uri="{BB962C8B-B14F-4D97-AF65-F5344CB8AC3E}">
        <p14:creationId xmlns:p14="http://schemas.microsoft.com/office/powerpoint/2010/main" val="296260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52778"/>
          </a:xfrm>
        </p:spPr>
        <p:txBody>
          <a:bodyPr/>
          <a:lstStyle/>
          <a:p>
            <a:r>
              <a:rPr lang="ru-RU" dirty="0"/>
              <a:t>Кодирование информации 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28650" y="1517906"/>
            <a:ext cx="8103870" cy="2990086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/>
              <a:t>Кодирование</a:t>
            </a:r>
            <a:r>
              <a:rPr lang="ru-RU" dirty="0"/>
              <a:t> (в широком смысле) – это преобразование </a:t>
            </a:r>
            <a:r>
              <a:rPr lang="ru-RU" b="1" dirty="0"/>
              <a:t>формы</a:t>
            </a:r>
            <a:r>
              <a:rPr lang="ru-RU" dirty="0"/>
              <a:t> информации, удобной для её непосредственного использования, в форму, удобную для её передачи, хранения или автоматической обработки</a:t>
            </a:r>
          </a:p>
          <a:p>
            <a:r>
              <a:rPr lang="ru-RU" b="1" dirty="0"/>
              <a:t>Код</a:t>
            </a:r>
            <a:r>
              <a:rPr lang="ru-RU" dirty="0"/>
              <a:t> – взаимно однозначное отображение конечного упорядоченного </a:t>
            </a:r>
            <a:r>
              <a:rPr lang="ru-RU" b="1" dirty="0"/>
              <a:t>множества символов </a:t>
            </a:r>
            <a:r>
              <a:rPr lang="ru-RU" dirty="0"/>
              <a:t>из конечного алфавита </a:t>
            </a:r>
            <a:r>
              <a:rPr lang="ru-RU" b="1" dirty="0"/>
              <a:t>на иное множество </a:t>
            </a:r>
            <a:r>
              <a:rPr lang="ru-RU" dirty="0"/>
              <a:t>символов для передачи, хранения или модификации информации</a:t>
            </a:r>
          </a:p>
          <a:p>
            <a:r>
              <a:rPr lang="ru-RU" u="sng" dirty="0"/>
              <a:t>Примеры</a:t>
            </a:r>
            <a:r>
              <a:rPr lang="ru-RU" dirty="0"/>
              <a:t>: код Морзе, двоичное кодирование.</a:t>
            </a:r>
          </a:p>
        </p:txBody>
      </p:sp>
      <p:pic>
        <p:nvPicPr>
          <p:cNvPr id="14" name="Объект 1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02771" y="4608576"/>
            <a:ext cx="6538458" cy="189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14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Теория кодирования –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502152" y="1825624"/>
            <a:ext cx="5013198" cy="474891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Это наука о </a:t>
            </a:r>
            <a:r>
              <a:rPr lang="ru-RU" b="1" dirty="0"/>
              <a:t>свойствах кодов </a:t>
            </a:r>
            <a:r>
              <a:rPr lang="ru-RU" dirty="0"/>
              <a:t>и их пригодности для достижения поставленных целей</a:t>
            </a:r>
          </a:p>
          <a:p>
            <a:r>
              <a:rPr lang="ru-RU" dirty="0"/>
              <a:t>Основные </a:t>
            </a:r>
            <a:r>
              <a:rPr lang="ru-RU" b="1" dirty="0"/>
              <a:t>проблемы</a:t>
            </a:r>
            <a:r>
              <a:rPr lang="ru-RU" dirty="0"/>
              <a:t> – вопросы взаимной однозначности кодирования и сложности реализации канала связи при заданных условиях</a:t>
            </a:r>
          </a:p>
          <a:p>
            <a:r>
              <a:rPr lang="ru-RU" u="sng" dirty="0"/>
              <a:t>Направления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Сжатие данных </a:t>
            </a:r>
            <a:r>
              <a:rPr lang="ru-RU" dirty="0"/>
              <a:t>     →</a:t>
            </a:r>
            <a:endParaRPr lang="ru-RU" b="1" dirty="0"/>
          </a:p>
          <a:p>
            <a:pPr lvl="1"/>
            <a:r>
              <a:rPr lang="ru-RU" dirty="0" err="1"/>
              <a:t>Криптология</a:t>
            </a:r>
            <a:r>
              <a:rPr lang="ru-RU" dirty="0"/>
              <a:t> (криптография и </a:t>
            </a:r>
            <a:r>
              <a:rPr lang="ru-RU" dirty="0" err="1"/>
              <a:t>криптоанализ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Контроль целостности данных при модификации и передаче</a:t>
            </a:r>
          </a:p>
          <a:p>
            <a:pPr lvl="1"/>
            <a:r>
              <a:rPr lang="ru-RU" dirty="0"/>
              <a:t>Физическое кодирование.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Объект 8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2425690"/>
            <a:ext cx="2107077" cy="2500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9854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43634"/>
          </a:xfrm>
        </p:spPr>
        <p:txBody>
          <a:bodyPr/>
          <a:lstStyle/>
          <a:p>
            <a:r>
              <a:rPr lang="ru-RU" dirty="0"/>
              <a:t>Сжатие данных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0831"/>
            <a:ext cx="2405993" cy="21804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315693" y="1690690"/>
            <a:ext cx="5542059" cy="4783262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Тенденция</a:t>
            </a:r>
            <a:r>
              <a:rPr lang="ru-RU" dirty="0"/>
              <a:t> – увеличение </a:t>
            </a:r>
            <a:r>
              <a:rPr lang="ru-RU" b="1" dirty="0"/>
              <a:t>объёмов</a:t>
            </a:r>
            <a:r>
              <a:rPr lang="ru-RU" dirty="0"/>
              <a:t> обрабатываемой информации</a:t>
            </a:r>
          </a:p>
          <a:p>
            <a:r>
              <a:rPr lang="ru-RU" dirty="0"/>
              <a:t>Всё более высокие требования к </a:t>
            </a:r>
            <a:r>
              <a:rPr lang="ru-RU" b="1" dirty="0"/>
              <a:t>ёмкости</a:t>
            </a:r>
            <a:r>
              <a:rPr lang="ru-RU" dirty="0"/>
              <a:t> и </a:t>
            </a:r>
            <a:r>
              <a:rPr lang="ru-RU" b="1" dirty="0"/>
              <a:t>скорости доступа </a:t>
            </a:r>
            <a:r>
              <a:rPr lang="ru-RU" dirty="0"/>
              <a:t>к данным накопителей, а также к </a:t>
            </a:r>
            <a:r>
              <a:rPr lang="ru-RU" b="1" dirty="0"/>
              <a:t>пропускной способности </a:t>
            </a:r>
            <a:r>
              <a:rPr lang="ru-RU" dirty="0"/>
              <a:t>каналов связи</a:t>
            </a:r>
          </a:p>
          <a:p>
            <a:r>
              <a:rPr lang="ru-RU" dirty="0"/>
              <a:t>Но есть </a:t>
            </a:r>
            <a:r>
              <a:rPr lang="ru-RU" b="1" dirty="0"/>
              <a:t>физические ограничения </a:t>
            </a:r>
            <a:r>
              <a:rPr lang="ru-RU" dirty="0"/>
              <a:t>оборудования и предел </a:t>
            </a:r>
            <a:r>
              <a:rPr lang="ru-RU" b="1" dirty="0"/>
              <a:t>экономической целесообразности</a:t>
            </a:r>
          </a:p>
          <a:p>
            <a:r>
              <a:rPr lang="ru-RU" dirty="0"/>
              <a:t>Поэтому востребовано направление </a:t>
            </a:r>
            <a:r>
              <a:rPr lang="ru-RU" b="1" dirty="0"/>
              <a:t>сжатия данных </a:t>
            </a:r>
            <a:r>
              <a:rPr lang="ru-RU" dirty="0"/>
              <a:t>– алгоритмического преобразования для уменьшения их объёма</a:t>
            </a:r>
          </a:p>
          <a:p>
            <a:r>
              <a:rPr lang="ru-RU" dirty="0"/>
              <a:t>Основано на устранении </a:t>
            </a:r>
            <a:r>
              <a:rPr lang="ru-RU" b="1" dirty="0"/>
              <a:t>избыточности</a:t>
            </a:r>
            <a:r>
              <a:rPr lang="ru-RU" dirty="0"/>
              <a:t>.      →</a:t>
            </a:r>
          </a:p>
        </p:txBody>
      </p:sp>
    </p:spTree>
    <p:extLst>
      <p:ext uri="{BB962C8B-B14F-4D97-AF65-F5344CB8AC3E}">
        <p14:creationId xmlns:p14="http://schemas.microsoft.com/office/powerpoint/2010/main" val="1917894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54790"/>
          </a:xfrm>
        </p:spPr>
        <p:txBody>
          <a:bodyPr/>
          <a:lstStyle/>
          <a:p>
            <a:r>
              <a:rPr lang="ru-RU" dirty="0"/>
              <a:t>Избыточность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16" y="3054915"/>
            <a:ext cx="3239262" cy="16956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506525" y="1622066"/>
            <a:ext cx="5317435" cy="5001371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Обычное представление информации почти всегда избыточно (</a:t>
            </a:r>
            <a:r>
              <a:rPr lang="ru-RU" b="1" dirty="0"/>
              <a:t>естественная избыточность</a:t>
            </a:r>
            <a:r>
              <a:rPr lang="ru-RU" dirty="0"/>
              <a:t>):</a:t>
            </a:r>
          </a:p>
          <a:p>
            <a:pPr lvl="1"/>
            <a:r>
              <a:rPr lang="ru-RU" dirty="0"/>
              <a:t>Повторяющиеся фрагменты в </a:t>
            </a:r>
            <a:r>
              <a:rPr lang="ru-RU" b="1" dirty="0"/>
              <a:t>текстах</a:t>
            </a:r>
          </a:p>
          <a:p>
            <a:pPr lvl="1"/>
            <a:r>
              <a:rPr lang="ru-RU" dirty="0" err="1"/>
              <a:t>Невоспринимаемые</a:t>
            </a:r>
            <a:r>
              <a:rPr lang="ru-RU" dirty="0"/>
              <a:t> или несущественные для восприятия частоты в </a:t>
            </a:r>
            <a:r>
              <a:rPr lang="ru-RU" b="1" dirty="0"/>
              <a:t>звуковой информации</a:t>
            </a:r>
          </a:p>
          <a:p>
            <a:pPr lvl="1"/>
            <a:r>
              <a:rPr lang="ru-RU" dirty="0"/>
              <a:t>Области одинакового цвета в </a:t>
            </a:r>
            <a:r>
              <a:rPr lang="ru-RU" b="1" dirty="0"/>
              <a:t>графических изображениях</a:t>
            </a:r>
            <a:r>
              <a:rPr lang="ru-RU" dirty="0"/>
              <a:t>;</a:t>
            </a:r>
            <a:endParaRPr lang="ru-RU" b="1" dirty="0"/>
          </a:p>
          <a:p>
            <a:r>
              <a:rPr lang="ru-RU" dirty="0"/>
              <a:t>Устраняя избыточность, можно избежать расходов на дополнительные ресурсы.</a:t>
            </a:r>
          </a:p>
        </p:txBody>
      </p:sp>
    </p:spTree>
    <p:extLst>
      <p:ext uri="{BB962C8B-B14F-4D97-AF65-F5344CB8AC3E}">
        <p14:creationId xmlns:p14="http://schemas.microsoft.com/office/powerpoint/2010/main" val="1224086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(алгоритмы) сжатия  (1/2)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2178590"/>
            <a:ext cx="2446782" cy="2446782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931920" y="1965959"/>
            <a:ext cx="4583430" cy="4211003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Неискажающие</a:t>
            </a:r>
            <a:r>
              <a:rPr lang="ru-RU" dirty="0"/>
              <a:t> (</a:t>
            </a:r>
            <a:r>
              <a:rPr lang="ru-RU" dirty="0" err="1"/>
              <a:t>loseless</a:t>
            </a:r>
            <a:r>
              <a:rPr lang="ru-RU" dirty="0"/>
              <a:t>, сжатие без потерь) – гарантируют, что декодированные данные будут в точности совпадать с исходными</a:t>
            </a:r>
          </a:p>
          <a:p>
            <a:pPr lvl="1"/>
            <a:r>
              <a:rPr lang="ru-RU" dirty="0"/>
              <a:t>Сжатие достигается за счет </a:t>
            </a:r>
            <a:r>
              <a:rPr lang="ru-RU" b="1" dirty="0"/>
              <a:t>более экономичного </a:t>
            </a:r>
            <a:r>
              <a:rPr lang="ru-RU" dirty="0"/>
              <a:t>представления данных</a:t>
            </a:r>
          </a:p>
          <a:p>
            <a:r>
              <a:rPr lang="ru-RU" b="1" dirty="0"/>
              <a:t>Искажающие</a:t>
            </a:r>
            <a:r>
              <a:rPr lang="ru-RU" dirty="0"/>
              <a:t> (</a:t>
            </a:r>
            <a:r>
              <a:rPr lang="ru-RU" dirty="0" err="1"/>
              <a:t>lossy</a:t>
            </a:r>
            <a:r>
              <a:rPr lang="ru-RU" dirty="0"/>
              <a:t>, сжатие с потерями) – полное восстановление невозможно</a:t>
            </a:r>
          </a:p>
          <a:p>
            <a:pPr lvl="1"/>
            <a:r>
              <a:rPr lang="ru-RU" dirty="0"/>
              <a:t>Сжатие достигается за счет </a:t>
            </a:r>
            <a:r>
              <a:rPr lang="ru-RU" b="1" dirty="0"/>
              <a:t>потери</a:t>
            </a:r>
            <a:r>
              <a:rPr lang="ru-RU" dirty="0"/>
              <a:t> части информации.</a:t>
            </a:r>
          </a:p>
        </p:txBody>
      </p:sp>
    </p:spTree>
    <p:extLst>
      <p:ext uri="{BB962C8B-B14F-4D97-AF65-F5344CB8AC3E}">
        <p14:creationId xmlns:p14="http://schemas.microsoft.com/office/powerpoint/2010/main" val="362762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(алгоритмы) сжатия  (2/2)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70" y="2388902"/>
            <a:ext cx="2446782" cy="2446782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547872" y="1976581"/>
            <a:ext cx="5129784" cy="4395835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Общего назначения </a:t>
            </a:r>
            <a:r>
              <a:rPr lang="ru-RU" dirty="0"/>
              <a:t>(</a:t>
            </a:r>
            <a:r>
              <a:rPr lang="ru-RU" dirty="0" err="1"/>
              <a:t>general-purpose</a:t>
            </a:r>
            <a:r>
              <a:rPr lang="ru-RU" dirty="0"/>
              <a:t>) – не учитывают физическую природу, специфику входных данных, ориентированы на сжатие </a:t>
            </a:r>
            <a:r>
              <a:rPr lang="ru-RU" b="1" dirty="0"/>
              <a:t>любых видов данных</a:t>
            </a:r>
            <a:r>
              <a:rPr lang="ru-RU" dirty="0"/>
              <a:t>, которые хранятся в ЭВМ</a:t>
            </a:r>
          </a:p>
          <a:p>
            <a:r>
              <a:rPr lang="ru-RU" b="1" dirty="0"/>
              <a:t>Специальные</a:t>
            </a:r>
            <a:r>
              <a:rPr lang="ru-RU" dirty="0"/>
              <a:t> (</a:t>
            </a:r>
            <a:r>
              <a:rPr lang="ru-RU" dirty="0" err="1"/>
              <a:t>special</a:t>
            </a:r>
            <a:r>
              <a:rPr lang="ru-RU" dirty="0"/>
              <a:t>) методы сжатия – ориентированы на сжатие данных определённой природы, например, звука, изображений и пр.</a:t>
            </a:r>
          </a:p>
          <a:p>
            <a:pPr lvl="1"/>
            <a:r>
              <a:rPr lang="ru-RU" dirty="0"/>
              <a:t>Учётом специфики достигается лучшая степень сжатия</a:t>
            </a:r>
          </a:p>
          <a:p>
            <a:r>
              <a:rPr lang="ru-RU" dirty="0"/>
              <a:t>Методы сжатия общего назначения – неискажающие; искажающими могут быть только специальные методы.</a:t>
            </a:r>
          </a:p>
        </p:txBody>
      </p:sp>
    </p:spTree>
    <p:extLst>
      <p:ext uri="{BB962C8B-B14F-4D97-AF65-F5344CB8AC3E}">
        <p14:creationId xmlns:p14="http://schemas.microsoft.com/office/powerpoint/2010/main" val="832112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2045"/>
            <a:ext cx="3886200" cy="2125265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43634"/>
          </a:xfrm>
        </p:spPr>
        <p:txBody>
          <a:bodyPr/>
          <a:lstStyle/>
          <a:p>
            <a:r>
              <a:rPr lang="ru-RU" dirty="0"/>
              <a:t>Критерии методов сжатия (1/2)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300984" y="1798192"/>
            <a:ext cx="5340096" cy="4794631"/>
          </a:xfrm>
        </p:spPr>
        <p:txBody>
          <a:bodyPr>
            <a:normAutofit fontScale="77500" lnSpcReduction="20000"/>
          </a:bodyPr>
          <a:lstStyle/>
          <a:p>
            <a:pPr marL="265113" indent="-265113">
              <a:buFont typeface="+mj-lt"/>
              <a:buAutoNum type="arabicPeriod"/>
            </a:pPr>
            <a:r>
              <a:rPr lang="ru-RU" b="1" dirty="0"/>
              <a:t>Качество</a:t>
            </a:r>
            <a:r>
              <a:rPr lang="ru-RU" dirty="0"/>
              <a:t> (коэффициент или степень) сжатия, т. е. отношение длины (в битах) исходного представления к длине сжатого представления данных</a:t>
            </a:r>
          </a:p>
          <a:p>
            <a:pPr marL="265113" indent="-265113">
              <a:buFont typeface="+mj-lt"/>
              <a:buAutoNum type="arabicPeriod"/>
            </a:pPr>
            <a:r>
              <a:rPr lang="ru-RU" b="1" dirty="0"/>
              <a:t>Скорость</a:t>
            </a:r>
            <a:r>
              <a:rPr lang="ru-RU" dirty="0"/>
              <a:t> кодирования и декодирования, определяемые временем, затрачиваемым на кодирование и декодирование данных</a:t>
            </a:r>
          </a:p>
          <a:p>
            <a:pPr marL="265113" indent="-265113">
              <a:buFont typeface="+mj-lt"/>
              <a:buAutoNum type="arabicPeriod"/>
            </a:pPr>
            <a:r>
              <a:rPr lang="ru-RU" b="1" dirty="0"/>
              <a:t>Объём</a:t>
            </a:r>
            <a:r>
              <a:rPr lang="ru-RU" dirty="0"/>
              <a:t> требуемой памяти</a:t>
            </a:r>
          </a:p>
          <a:p>
            <a:r>
              <a:rPr lang="ru-RU" dirty="0"/>
              <a:t>Алгоритмы, использующие </a:t>
            </a:r>
            <a:r>
              <a:rPr lang="ru-RU" b="1" dirty="0"/>
              <a:t>больше ресурсов</a:t>
            </a:r>
            <a:r>
              <a:rPr lang="ru-RU" dirty="0"/>
              <a:t> (времени и памяти), обычно достигают </a:t>
            </a:r>
            <a:r>
              <a:rPr lang="ru-RU" b="1" dirty="0"/>
              <a:t>лучшего качества </a:t>
            </a:r>
            <a:r>
              <a:rPr lang="ru-RU" dirty="0"/>
              <a:t>сжатия, </a:t>
            </a:r>
          </a:p>
          <a:p>
            <a:r>
              <a:rPr lang="ru-RU" dirty="0"/>
              <a:t>И наоборот: менее ресурсоемкие алгоритмы по качеству сжатия, как правило, уступают более ресурсоемким.</a:t>
            </a:r>
          </a:p>
        </p:txBody>
      </p:sp>
    </p:spTree>
    <p:extLst>
      <p:ext uri="{BB962C8B-B14F-4D97-AF65-F5344CB8AC3E}">
        <p14:creationId xmlns:p14="http://schemas.microsoft.com/office/powerpoint/2010/main" val="37665589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07058"/>
          </a:xfrm>
        </p:spPr>
        <p:txBody>
          <a:bodyPr/>
          <a:lstStyle/>
          <a:p>
            <a:r>
              <a:rPr lang="ru-RU" dirty="0"/>
              <a:t>Критерии методов сжатия (2/2)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2481461"/>
            <a:ext cx="3304367" cy="1807075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026664" y="1737360"/>
            <a:ext cx="5779008" cy="484631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Построение </a:t>
            </a:r>
            <a:r>
              <a:rPr lang="ru-RU" b="1" dirty="0"/>
              <a:t>оптимального </a:t>
            </a:r>
            <a:r>
              <a:rPr lang="ru-RU" dirty="0"/>
              <a:t>алгоритма сжатия данных – </a:t>
            </a:r>
            <a:r>
              <a:rPr lang="ru-RU" b="1" dirty="0"/>
              <a:t>нетривиальная задача</a:t>
            </a:r>
            <a:r>
              <a:rPr lang="ru-RU" dirty="0"/>
              <a:t>, т.к. необходимо добиться высокого качества сжатия при небольшом объёме используемых ресурсов</a:t>
            </a:r>
          </a:p>
          <a:p>
            <a:r>
              <a:rPr lang="ru-RU" dirty="0"/>
              <a:t>Критерии оценки методов сжатия на практике сильно зависят от </a:t>
            </a:r>
            <a:r>
              <a:rPr lang="ru-RU" b="1" dirty="0"/>
              <a:t>области применения</a:t>
            </a:r>
            <a:r>
              <a:rPr lang="ru-RU" dirty="0"/>
              <a:t>, например:</a:t>
            </a:r>
          </a:p>
          <a:p>
            <a:pPr lvl="1"/>
            <a:r>
              <a:rPr lang="ru-RU" dirty="0"/>
              <a:t>в системах </a:t>
            </a:r>
            <a:r>
              <a:rPr lang="ru-RU" b="1" dirty="0"/>
              <a:t>реального времени </a:t>
            </a:r>
            <a:r>
              <a:rPr lang="ru-RU" dirty="0"/>
              <a:t>необходимо обеспечить высокую скорость кодирования и декодирования; </a:t>
            </a:r>
          </a:p>
          <a:p>
            <a:pPr lvl="1"/>
            <a:r>
              <a:rPr lang="ru-RU" dirty="0"/>
              <a:t>для </a:t>
            </a:r>
            <a:r>
              <a:rPr lang="ru-RU" b="1" dirty="0"/>
              <a:t>встроенных систем </a:t>
            </a:r>
            <a:r>
              <a:rPr lang="ru-RU" dirty="0"/>
              <a:t>критический параметр – объем требуемой памяти; </a:t>
            </a:r>
          </a:p>
          <a:p>
            <a:pPr lvl="1"/>
            <a:r>
              <a:rPr lang="ru-RU" dirty="0"/>
              <a:t>для </a:t>
            </a:r>
            <a:r>
              <a:rPr lang="ru-RU" b="1" dirty="0"/>
              <a:t>систем долговременного хранения </a:t>
            </a:r>
            <a:r>
              <a:rPr lang="ru-RU" dirty="0"/>
              <a:t>данных – качество сжатия и/или скорость декодирования и пр.</a:t>
            </a:r>
          </a:p>
        </p:txBody>
      </p:sp>
    </p:spTree>
    <p:extLst>
      <p:ext uri="{BB962C8B-B14F-4D97-AF65-F5344CB8AC3E}">
        <p14:creationId xmlns:p14="http://schemas.microsoft.com/office/powerpoint/2010/main" val="3137651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16202"/>
          </a:xfrm>
        </p:spPr>
        <p:txBody>
          <a:bodyPr/>
          <a:lstStyle/>
          <a:p>
            <a:r>
              <a:rPr lang="ru-RU" dirty="0"/>
              <a:t>Надёжность алгоритма сжатия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35447"/>
            <a:ext cx="2384421" cy="1650753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236976" y="1690690"/>
            <a:ext cx="5660136" cy="4892990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Надежность</a:t>
            </a:r>
            <a:r>
              <a:rPr lang="ru-RU" dirty="0"/>
              <a:t> обеспечивается как безошибочностью программирования и дизайна, так и </a:t>
            </a:r>
            <a:r>
              <a:rPr lang="ru-RU" b="1" dirty="0"/>
              <a:t>характеристиками</a:t>
            </a:r>
            <a:r>
              <a:rPr lang="ru-RU" dirty="0"/>
              <a:t> выбранных </a:t>
            </a:r>
            <a:r>
              <a:rPr lang="ru-RU" b="1" dirty="0"/>
              <a:t>алгоритмов</a:t>
            </a:r>
          </a:p>
          <a:p>
            <a:r>
              <a:rPr lang="ru-RU" dirty="0"/>
              <a:t>Для обеспечения конечного и заранее известного времени сжатия (в </a:t>
            </a:r>
            <a:r>
              <a:rPr lang="ru-RU" b="1" dirty="0"/>
              <a:t>наихудшем случае</a:t>
            </a:r>
            <a:r>
              <a:rPr lang="ru-RU" dirty="0"/>
              <a:t>), необходимо, чтобы алгоритм обладал:</a:t>
            </a:r>
          </a:p>
          <a:p>
            <a:pPr lvl="1"/>
            <a:r>
              <a:rPr lang="ru-RU" dirty="0"/>
              <a:t>хорошо </a:t>
            </a:r>
            <a:r>
              <a:rPr lang="ru-RU" b="1" dirty="0"/>
              <a:t>детерминированным временем работы </a:t>
            </a:r>
            <a:r>
              <a:rPr lang="ru-RU" dirty="0"/>
              <a:t>(желательно, мало зависящим от кодируемых данных) и </a:t>
            </a:r>
          </a:p>
          <a:p>
            <a:pPr lvl="1"/>
            <a:r>
              <a:rPr lang="ru-RU" dirty="0"/>
              <a:t>заранее </a:t>
            </a:r>
            <a:r>
              <a:rPr lang="ru-RU" b="1" dirty="0"/>
              <a:t>известным объёмом требуемой памяти</a:t>
            </a:r>
            <a:r>
              <a:rPr lang="ru-RU" dirty="0"/>
              <a:t>;</a:t>
            </a:r>
          </a:p>
          <a:p>
            <a:r>
              <a:rPr lang="ru-RU" dirty="0"/>
              <a:t>Выполнение этих требований необходимо при разработке встроенных систем, систем реального времени, файловых систем со сжатием данных и других систем с жесткими ограничениями на </a:t>
            </a:r>
            <a:r>
              <a:rPr lang="ru-RU" b="1" dirty="0"/>
              <a:t>разделяемые ресурсы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0210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97914"/>
          </a:xfrm>
        </p:spPr>
        <p:txBody>
          <a:bodyPr/>
          <a:lstStyle/>
          <a:p>
            <a:r>
              <a:rPr lang="ru-RU" dirty="0"/>
              <a:t>Сложность алгоритма сжатия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666" y="3945242"/>
            <a:ext cx="4452668" cy="2547631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8650" y="1463041"/>
            <a:ext cx="7886700" cy="242546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Алгоритмы, обладающие полиномиальной или экспоненциальной сложностью, считаются </a:t>
            </a:r>
            <a:r>
              <a:rPr lang="ru-RU" b="1" dirty="0"/>
              <a:t>в теории </a:t>
            </a:r>
            <a:r>
              <a:rPr lang="ru-RU" dirty="0"/>
              <a:t>хорошим решением проблемы</a:t>
            </a:r>
          </a:p>
          <a:p>
            <a:r>
              <a:rPr lang="ru-RU" dirty="0"/>
              <a:t>Но </a:t>
            </a:r>
            <a:r>
              <a:rPr lang="ru-RU" b="1" dirty="0"/>
              <a:t>на практике</a:t>
            </a:r>
            <a:r>
              <a:rPr lang="ru-RU" dirty="0"/>
              <a:t> приемлемы только алгоритмы с </a:t>
            </a:r>
            <a:r>
              <a:rPr lang="ru-RU" b="1" dirty="0"/>
              <a:t>линейной </a:t>
            </a:r>
            <a:r>
              <a:rPr lang="ru-RU" dirty="0"/>
              <a:t>или </a:t>
            </a:r>
            <a:r>
              <a:rPr lang="ru-RU" b="1" dirty="0"/>
              <a:t>линейно-логарифмической</a:t>
            </a:r>
            <a:r>
              <a:rPr lang="ru-RU" dirty="0"/>
              <a:t> (квазилинейной) временной сложностью</a:t>
            </a:r>
          </a:p>
          <a:p>
            <a:r>
              <a:rPr lang="ru-RU" dirty="0"/>
              <a:t>Крайне желательно, чтобы </a:t>
            </a:r>
            <a:r>
              <a:rPr lang="ru-RU" b="1" dirty="0"/>
              <a:t>среднее время работы </a:t>
            </a:r>
            <a:r>
              <a:rPr lang="ru-RU" dirty="0"/>
              <a:t>(на типичных данных) было </a:t>
            </a:r>
            <a:r>
              <a:rPr lang="ru-RU" b="1" dirty="0"/>
              <a:t>линейным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6166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Эффективные методы сжатия без потерь: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857750" y="1816481"/>
            <a:ext cx="3886200" cy="4351338"/>
          </a:xfrm>
        </p:spPr>
        <p:txBody>
          <a:bodyPr>
            <a:normAutofit/>
          </a:bodyPr>
          <a:lstStyle/>
          <a:p>
            <a:pPr marL="357188" indent="-357188">
              <a:buFont typeface="+mj-lt"/>
              <a:buAutoNum type="arabicPeriod"/>
            </a:pPr>
            <a:r>
              <a:rPr lang="ru-RU" b="1" dirty="0"/>
              <a:t>Статистические</a:t>
            </a:r>
            <a:r>
              <a:rPr lang="ru-RU" dirty="0"/>
              <a:t> (</a:t>
            </a:r>
            <a:r>
              <a:rPr lang="ru-RU" dirty="0" err="1"/>
              <a:t>энтропийные</a:t>
            </a:r>
            <a:r>
              <a:rPr lang="ru-RU" dirty="0"/>
              <a:t>) алгоритмы      </a:t>
            </a:r>
          </a:p>
          <a:p>
            <a:pPr marL="357188" indent="-357188">
              <a:buFont typeface="+mj-lt"/>
              <a:buAutoNum type="arabicPeriod"/>
            </a:pPr>
            <a:r>
              <a:rPr lang="ru-RU" b="1" dirty="0"/>
              <a:t>Словарные</a:t>
            </a:r>
            <a:r>
              <a:rPr lang="ru-RU" dirty="0"/>
              <a:t> алгоритмы</a:t>
            </a:r>
          </a:p>
          <a:p>
            <a:pPr marL="357188" indent="-357188">
              <a:buFont typeface="+mj-lt"/>
              <a:buAutoNum type="arabicPeriod"/>
            </a:pPr>
            <a:r>
              <a:rPr lang="ru-RU" dirty="0"/>
              <a:t>Алгоритмы </a:t>
            </a:r>
            <a:r>
              <a:rPr lang="ru-RU" b="1" dirty="0"/>
              <a:t>сортировкой блоков </a:t>
            </a:r>
            <a:r>
              <a:rPr lang="ru-RU" dirty="0"/>
              <a:t>(семейство </a:t>
            </a:r>
            <a:r>
              <a:rPr lang="en-US" dirty="0"/>
              <a:t>BWT/BS</a:t>
            </a:r>
            <a:r>
              <a:rPr lang="ru-RU" dirty="0"/>
              <a:t>)</a:t>
            </a:r>
          </a:p>
          <a:p>
            <a:pPr marL="357188" indent="-357188">
              <a:buFont typeface="+mj-lt"/>
              <a:buAutoNum type="arabicPeriod"/>
            </a:pPr>
            <a:r>
              <a:rPr lang="ru-RU" dirty="0"/>
              <a:t>Прочие.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7CDDDC5-B142-4F03-8900-33FD93C4AE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2434072"/>
            <a:ext cx="4114923" cy="18331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2014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1. Статистическое (</a:t>
            </a:r>
            <a:r>
              <a:rPr lang="ru-RU" dirty="0" err="1"/>
              <a:t>энтропийное</a:t>
            </a:r>
            <a:r>
              <a:rPr lang="ru-RU" dirty="0"/>
              <a:t>) моделирование –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74" y="2364518"/>
            <a:ext cx="3166111" cy="2532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529585" y="1938528"/>
            <a:ext cx="5349240" cy="45720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Это обратимое кодирование с целью сжатия с помощью </a:t>
            </a:r>
            <a:r>
              <a:rPr lang="ru-RU" b="1" dirty="0"/>
              <a:t>усреднения вероятностей </a:t>
            </a:r>
            <a:r>
              <a:rPr lang="ru-RU" dirty="0"/>
              <a:t>(частот) появления элементов в закодированной последовательности:</a:t>
            </a:r>
          </a:p>
          <a:p>
            <a:pPr lvl="1"/>
            <a:r>
              <a:rPr lang="ru-RU" dirty="0"/>
              <a:t>До кодирования у элементов последовательности вероятность появления (частота) </a:t>
            </a:r>
            <a:r>
              <a:rPr lang="ru-RU" b="1" dirty="0"/>
              <a:t>различна</a:t>
            </a:r>
          </a:p>
          <a:p>
            <a:pPr lvl="1"/>
            <a:r>
              <a:rPr lang="ru-RU" dirty="0"/>
              <a:t>В результирующей последовательности вероятности появления отдельных символов почти </a:t>
            </a:r>
            <a:r>
              <a:rPr lang="ru-RU" b="1" dirty="0"/>
              <a:t>одинаковы</a:t>
            </a:r>
            <a:r>
              <a:rPr lang="ru-RU" dirty="0"/>
              <a:t>;</a:t>
            </a:r>
          </a:p>
          <a:p>
            <a:r>
              <a:rPr lang="ru-RU" b="1" dirty="0"/>
              <a:t>Вероятность появления </a:t>
            </a:r>
            <a:r>
              <a:rPr lang="ru-RU" dirty="0"/>
              <a:t>следующего символа предсказывается на основе </a:t>
            </a:r>
            <a:r>
              <a:rPr lang="ru-RU" b="1" dirty="0"/>
              <a:t>анализа частоты </a:t>
            </a:r>
            <a:r>
              <a:rPr lang="ru-RU" dirty="0"/>
              <a:t>появления различных последовательностей символов в ранее закодированной части сообщения.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3596050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1E823-70CF-477E-9A0E-6C347D46F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5528"/>
          </a:xfrm>
        </p:spPr>
        <p:txBody>
          <a:bodyPr/>
          <a:lstStyle/>
          <a:p>
            <a:r>
              <a:rPr lang="ru-RU" dirty="0"/>
              <a:t>Вероятность символа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BD9A49-88C3-4639-9907-15647067D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311565"/>
            <a:ext cx="7886700" cy="4756726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Вероятность события появления в тексте того или иного символа алфавита – </a:t>
            </a:r>
            <a:r>
              <a:rPr lang="ru-RU" b="1" dirty="0"/>
              <a:t>случайная величина</a:t>
            </a:r>
          </a:p>
          <a:p>
            <a:pPr>
              <a:spcBef>
                <a:spcPts val="600"/>
              </a:spcBef>
            </a:pPr>
            <a:r>
              <a:rPr lang="ru-RU" b="1" dirty="0"/>
              <a:t>Вероятности символов </a:t>
            </a:r>
            <a:r>
              <a:rPr lang="ru-RU" dirty="0"/>
              <a:t>различны, функция распределения – нормальное распределение Гаусса, однозначно характеризуется </a:t>
            </a:r>
            <a:r>
              <a:rPr lang="ru-RU" u="sng" dirty="0"/>
              <a:t>двумя числовыми величинами</a:t>
            </a:r>
            <a:r>
              <a:rPr lang="ru-RU" dirty="0"/>
              <a:t>:</a:t>
            </a:r>
          </a:p>
          <a:p>
            <a:pPr marL="268288" indent="-268288">
              <a:spcBef>
                <a:spcPts val="600"/>
              </a:spcBef>
              <a:buFont typeface="+mj-lt"/>
              <a:buAutoNum type="arabicPeriod"/>
            </a:pPr>
            <a:r>
              <a:rPr lang="ru-RU" b="1" dirty="0"/>
              <a:t>Математическое ожидание </a:t>
            </a:r>
            <a:r>
              <a:rPr lang="ru-RU" dirty="0"/>
              <a:t>– среднее ожидаемое значение случайной величины с учетом распределения</a:t>
            </a:r>
          </a:p>
          <a:p>
            <a:pPr marL="803275">
              <a:spcBef>
                <a:spcPts val="600"/>
              </a:spcBef>
            </a:pPr>
            <a:r>
              <a:rPr lang="ru-RU" b="1" dirty="0"/>
              <a:t>Средняя длина кода </a:t>
            </a:r>
            <a:r>
              <a:rPr lang="ru-RU" dirty="0"/>
              <a:t>– среднее число битов (элементарных символов) на один символ первичного алфавита с учётом частот символов:</a:t>
            </a:r>
          </a:p>
          <a:p>
            <a:pPr marL="0" indent="0">
              <a:spcBef>
                <a:spcPts val="600"/>
              </a:spcBef>
              <a:buNone/>
            </a:pPr>
            <a:endParaRPr lang="ru-RU" sz="4100" dirty="0"/>
          </a:p>
          <a:p>
            <a:pPr marL="0" indent="0">
              <a:spcBef>
                <a:spcPts val="600"/>
              </a:spcBef>
              <a:buNone/>
            </a:pPr>
            <a:endParaRPr lang="ru-RU" sz="5200" dirty="0"/>
          </a:p>
          <a:p>
            <a:pPr marL="268288" indent="-268288">
              <a:spcBef>
                <a:spcPts val="600"/>
              </a:spcBef>
              <a:buFont typeface="+mj-lt"/>
              <a:buAutoNum type="arabicPeriod" startAt="2"/>
            </a:pPr>
            <a:r>
              <a:rPr lang="ru-RU" b="1" dirty="0"/>
              <a:t>Дисперсия</a:t>
            </a:r>
            <a:r>
              <a:rPr lang="ru-RU" dirty="0"/>
              <a:t> характеризует меру </a:t>
            </a:r>
            <a:r>
              <a:rPr lang="ru-RU" b="1" dirty="0"/>
              <a:t>рассеивания</a:t>
            </a:r>
            <a:r>
              <a:rPr lang="ru-RU" dirty="0"/>
              <a:t> возможных значений случайной величины около её математического ожидания (меньший разброс считается лучшим):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CE8D7144-C97E-49A5-9E1E-DB87483788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1136" y="3925452"/>
            <a:ext cx="6221727" cy="92363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1B2702E-91AC-44C5-B607-7F5BE6B93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695" y="5723624"/>
            <a:ext cx="1932610" cy="5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875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1E823-70CF-477E-9A0E-6C347D46F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40617"/>
            <a:ext cx="7886700" cy="805852"/>
          </a:xfrm>
        </p:spPr>
        <p:txBody>
          <a:bodyPr>
            <a:normAutofit fontScale="90000"/>
          </a:bodyPr>
          <a:lstStyle/>
          <a:p>
            <a:r>
              <a:rPr lang="ru-RU" dirty="0"/>
              <a:t>Числовые характеристики кодирования: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25FABC9-D20B-42F5-9A86-AD80B7FFE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755338"/>
            <a:ext cx="7886700" cy="21335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348E39-0A63-483C-B320-2B36ACDD0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6146" y="3922495"/>
            <a:ext cx="5651707" cy="5287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026159-DFF4-4A3A-9157-59CBAAAFE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17" y="4612354"/>
            <a:ext cx="7102764" cy="59311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AB9C6C-9592-4EEE-A8B3-CA4A1B5258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9153" y="5372829"/>
            <a:ext cx="6169584" cy="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218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A92B650-066B-421D-9EB5-65026A8FA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r>
              <a:rPr lang="ru-RU" dirty="0"/>
              <a:t>Коэффициент сжатия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0A0E378-CFF2-4454-BDF0-C0F02802F9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4472" y="3269676"/>
            <a:ext cx="5735056" cy="3023176"/>
          </a:xfrm>
          <a:prstGeom prst="rect">
            <a:avLst/>
          </a:prstGeo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E438DE6D-3B3C-4980-B136-D9441F303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439576"/>
            <a:ext cx="7886700" cy="1767320"/>
          </a:xfrm>
        </p:spPr>
        <p:txBody>
          <a:bodyPr>
            <a:normAutofit fontScale="92500"/>
          </a:bodyPr>
          <a:lstStyle/>
          <a:p>
            <a:pPr>
              <a:spcBef>
                <a:spcPts val="600"/>
              </a:spcBef>
            </a:pPr>
            <a:r>
              <a:rPr lang="ru-RU" dirty="0"/>
              <a:t>Неоднородность распределения частот символов алфавита определяет </a:t>
            </a:r>
            <a:r>
              <a:rPr lang="ru-RU" b="1" dirty="0"/>
              <a:t>избыточность</a:t>
            </a:r>
            <a:r>
              <a:rPr lang="ru-RU" dirty="0"/>
              <a:t> сообщения</a:t>
            </a:r>
          </a:p>
          <a:p>
            <a:pPr>
              <a:spcBef>
                <a:spcPts val="600"/>
              </a:spcBef>
            </a:pPr>
            <a:r>
              <a:rPr lang="ru-RU" b="1" dirty="0"/>
              <a:t>Коэффициент сжатия </a:t>
            </a:r>
            <a:r>
              <a:rPr lang="ru-RU" dirty="0"/>
              <a:t>– отношение длины исходного сообщения к выходному коду.</a:t>
            </a:r>
          </a:p>
        </p:txBody>
      </p:sp>
    </p:spTree>
    <p:extLst>
      <p:ext uri="{BB962C8B-B14F-4D97-AF65-F5344CB8AC3E}">
        <p14:creationId xmlns:p14="http://schemas.microsoft.com/office/powerpoint/2010/main" val="126186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88770"/>
          </a:xfrm>
        </p:spPr>
        <p:txBody>
          <a:bodyPr>
            <a:normAutofit fontScale="90000"/>
          </a:bodyPr>
          <a:lstStyle/>
          <a:p>
            <a:r>
              <a:rPr lang="ru-RU" dirty="0"/>
              <a:t>Варианты кодов </a:t>
            </a:r>
            <a:r>
              <a:rPr lang="ru-RU" dirty="0" err="1"/>
              <a:t>энтропийного</a:t>
            </a:r>
            <a:r>
              <a:rPr lang="ru-RU" dirty="0"/>
              <a:t> моделирования: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548640" y="1773382"/>
            <a:ext cx="8129016" cy="483773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ru-RU" dirty="0"/>
              <a:t>Различным элементам исходной последовательности сопоставляются результирующие </a:t>
            </a:r>
            <a:r>
              <a:rPr lang="ru-RU" b="1" dirty="0"/>
              <a:t>коды</a:t>
            </a:r>
            <a:r>
              <a:rPr lang="ru-RU" dirty="0"/>
              <a:t> </a:t>
            </a:r>
            <a:r>
              <a:rPr lang="ru-RU" b="1" dirty="0"/>
              <a:t>переменной длины </a:t>
            </a:r>
            <a:br>
              <a:rPr lang="ru-RU" b="1" dirty="0"/>
            </a:br>
            <a:r>
              <a:rPr lang="ru-RU" dirty="0"/>
              <a:t>(код Шеннона-</a:t>
            </a:r>
            <a:r>
              <a:rPr lang="ru-RU" dirty="0" err="1"/>
              <a:t>Фано</a:t>
            </a:r>
            <a:r>
              <a:rPr lang="ru-RU" dirty="0"/>
              <a:t>, код Хаффмана):</a:t>
            </a:r>
          </a:p>
          <a:p>
            <a:pPr lvl="1">
              <a:lnSpc>
                <a:spcPct val="105000"/>
              </a:lnSpc>
              <a:spcBef>
                <a:spcPts val="600"/>
              </a:spcBef>
            </a:pPr>
            <a:r>
              <a:rPr lang="ru-RU" dirty="0"/>
              <a:t>Чем </a:t>
            </a:r>
            <a:r>
              <a:rPr lang="ru-RU" b="1" dirty="0"/>
              <a:t>больше вероятность </a:t>
            </a:r>
            <a:r>
              <a:rPr lang="ru-RU" dirty="0"/>
              <a:t>появления исходного элемента, тем </a:t>
            </a:r>
            <a:r>
              <a:rPr lang="ru-RU" b="1" dirty="0"/>
              <a:t>короче</a:t>
            </a:r>
            <a:r>
              <a:rPr lang="ru-RU" dirty="0"/>
              <a:t> соответствующая ему результирующая последовательность,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ru-RU" dirty="0"/>
              <a:t>Различным элементам исходной последовательности сопоставляется </a:t>
            </a:r>
            <a:r>
              <a:rPr lang="ru-RU" b="1" dirty="0"/>
              <a:t>фиксированное число элементов </a:t>
            </a:r>
            <a:r>
              <a:rPr lang="ru-RU" dirty="0"/>
              <a:t>конечной последовательности (код </a:t>
            </a:r>
            <a:r>
              <a:rPr lang="ru-RU" dirty="0" err="1"/>
              <a:t>Танстола</a:t>
            </a:r>
            <a:r>
              <a:rPr lang="ru-RU" dirty="0"/>
              <a:t> – отображение исходных символов строки на коды с фиксированным количеством битов)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ru-RU" b="1" dirty="0"/>
              <a:t>Иные</a:t>
            </a:r>
            <a:r>
              <a:rPr lang="ru-RU" dirty="0"/>
              <a:t> коды с операциями над последовательностями символов (например, </a:t>
            </a:r>
            <a:r>
              <a:rPr lang="ru-RU" b="1" dirty="0"/>
              <a:t>кодирование длин серий</a:t>
            </a:r>
            <a:r>
              <a:rPr lang="ru-RU" dirty="0"/>
              <a:t>: </a:t>
            </a:r>
            <a:r>
              <a:rPr lang="en-US" dirty="0" err="1"/>
              <a:t>kkkkk</a:t>
            </a:r>
            <a:r>
              <a:rPr lang="en-US" dirty="0"/>
              <a:t>→(k,5)</a:t>
            </a:r>
            <a:r>
              <a:rPr lang="ru-RU" dirty="0"/>
              <a:t>)</a:t>
            </a:r>
          </a:p>
          <a:p>
            <a:pPr>
              <a:lnSpc>
                <a:spcPct val="105000"/>
              </a:lnSpc>
              <a:spcBef>
                <a:spcPts val="600"/>
              </a:spcBef>
            </a:pPr>
            <a:r>
              <a:rPr lang="ru-RU" dirty="0"/>
              <a:t>Если заранее известны примерные характеристики </a:t>
            </a:r>
            <a:r>
              <a:rPr lang="ru-RU" b="1" dirty="0"/>
              <a:t>энтропии</a:t>
            </a:r>
            <a:r>
              <a:rPr lang="ru-RU" dirty="0"/>
              <a:t> потока данных – унарное кодирование, гамма-коды </a:t>
            </a:r>
            <a:r>
              <a:rPr lang="ru-RU" dirty="0" err="1"/>
              <a:t>Элиаса</a:t>
            </a:r>
            <a:r>
              <a:rPr lang="ru-RU" dirty="0"/>
              <a:t>, Фибоначчи, </a:t>
            </a:r>
            <a:r>
              <a:rPr lang="ru-RU" dirty="0" err="1"/>
              <a:t>Голомба</a:t>
            </a:r>
            <a:r>
              <a:rPr lang="ru-RU" dirty="0"/>
              <a:t>, Райса.</a:t>
            </a:r>
          </a:p>
        </p:txBody>
      </p:sp>
    </p:spTree>
    <p:extLst>
      <p:ext uri="{BB962C8B-B14F-4D97-AF65-F5344CB8AC3E}">
        <p14:creationId xmlns:p14="http://schemas.microsoft.com/office/powerpoint/2010/main" val="30706650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Применимость статистических алгоритмов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87" y="2640087"/>
            <a:ext cx="2214660" cy="1325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937165" y="1939636"/>
            <a:ext cx="5969092" cy="474462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Чем более предсказуемы входные данные (энтропия меньше), тем лучше их можно сжать → случайная независимая </a:t>
            </a:r>
            <a:r>
              <a:rPr lang="ru-RU" b="1" dirty="0"/>
              <a:t>равновероятная последовательность </a:t>
            </a:r>
            <a:r>
              <a:rPr lang="ru-RU" dirty="0"/>
              <a:t>сжатию без потерь </a:t>
            </a:r>
            <a:r>
              <a:rPr lang="ru-RU" b="1" dirty="0"/>
              <a:t>не поддаётся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Алгоритмы обычно обеспечивают </a:t>
            </a:r>
            <a:r>
              <a:rPr lang="ru-RU" b="1" dirty="0"/>
              <a:t>высокое качество </a:t>
            </a:r>
            <a:r>
              <a:rPr lang="ru-RU" dirty="0"/>
              <a:t>сжатия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Но обладают </a:t>
            </a:r>
            <a:r>
              <a:rPr lang="ru-RU" b="1" dirty="0"/>
              <a:t>низкой скоростью </a:t>
            </a:r>
            <a:r>
              <a:rPr lang="ru-RU" dirty="0"/>
              <a:t>сжатия/декодирования и требуют </a:t>
            </a:r>
            <a:r>
              <a:rPr lang="ru-RU" b="1" dirty="0"/>
              <a:t>большого объёма </a:t>
            </a:r>
            <a:r>
              <a:rPr lang="ru-RU" dirty="0"/>
              <a:t>ОЗУ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Многие способы реализации для получения оценок вероятностей появления символов используют команды умножения и/или деления, вычисления с плавающей точкой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В целом, область их применения </a:t>
            </a:r>
            <a:r>
              <a:rPr lang="ru-RU" b="1" dirty="0"/>
              <a:t>ограничена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35492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6514</TotalTime>
  <Words>2141</Words>
  <Application>Microsoft Office PowerPoint</Application>
  <PresentationFormat>Экран (4:3)</PresentationFormat>
  <Paragraphs>201</Paragraphs>
  <Slides>42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Symbol</vt:lpstr>
      <vt:lpstr>Тема Office</vt:lpstr>
      <vt:lpstr>Bitmap Image</vt:lpstr>
      <vt:lpstr>Структуры и алгоритмы обработки данных</vt:lpstr>
      <vt:lpstr>Остовное (стягивающее, покрывающее) дерево в графе –</vt:lpstr>
      <vt:lpstr>Пример:</vt:lpstr>
      <vt:lpstr>Решения:</vt:lpstr>
      <vt:lpstr>Алгоритм Прима</vt:lpstr>
      <vt:lpstr>Идея алгоритма Прима</vt:lpstr>
      <vt:lpstr>Реализация алгоритма Прима</vt:lpstr>
      <vt:lpstr>Алгоритм Краскала (Крускала)</vt:lpstr>
      <vt:lpstr>Идея алгоритма Краскала</vt:lpstr>
      <vt:lpstr>Система непересекающихся множеств  (англ. disjoint set union, DSU или Union-Find)</vt:lpstr>
      <vt:lpstr>Ранговая эвристика DSU</vt:lpstr>
      <vt:lpstr>Иллюстрация работы алгоритма</vt:lpstr>
      <vt:lpstr>Шаги алгоритма Краскала</vt:lpstr>
      <vt:lpstr>Реализация алгоритма</vt:lpstr>
      <vt:lpstr>Топологическая сортировка</vt:lpstr>
      <vt:lpstr>Задача</vt:lpstr>
      <vt:lpstr>Топологический порядок – </vt:lpstr>
      <vt:lpstr>Алгоритмы топологической сортировки:</vt:lpstr>
      <vt:lpstr>Алгоритм топологической сортировки ациклического графа</vt:lpstr>
      <vt:lpstr>Реализация алгоритма</vt:lpstr>
      <vt:lpstr>13. Алгоритмы сжатия и кодирования данных.</vt:lpstr>
      <vt:lpstr>Информация (1/2)</vt:lpstr>
      <vt:lpstr>Информация (2/2)</vt:lpstr>
      <vt:lpstr>Данные = смысл, облечённый в форму</vt:lpstr>
      <vt:lpstr>Информационный сигнал</vt:lpstr>
      <vt:lpstr>Кодирование информации </vt:lpstr>
      <vt:lpstr>Теория кодирования –</vt:lpstr>
      <vt:lpstr>Сжатие данных</vt:lpstr>
      <vt:lpstr>Избыточность</vt:lpstr>
      <vt:lpstr>Методы (алгоритмы) сжатия  (1/2)</vt:lpstr>
      <vt:lpstr>Методы (алгоритмы) сжатия  (2/2)</vt:lpstr>
      <vt:lpstr>Критерии методов сжатия (1/2)</vt:lpstr>
      <vt:lpstr>Критерии методов сжатия (2/2)</vt:lpstr>
      <vt:lpstr>Надёжность алгоритма сжатия</vt:lpstr>
      <vt:lpstr>Сложность алгоритма сжатия</vt:lpstr>
      <vt:lpstr>Эффективные методы сжатия без потерь:</vt:lpstr>
      <vt:lpstr>1. Статистическое (энтропийное) моделирование –</vt:lpstr>
      <vt:lpstr>Вероятность символа</vt:lpstr>
      <vt:lpstr>Числовые характеристики кодирования:</vt:lpstr>
      <vt:lpstr>Коэффициент сжатия</vt:lpstr>
      <vt:lpstr>Варианты кодов энтропийного моделирования:</vt:lpstr>
      <vt:lpstr>Применимость статистических алгоритмов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Деревья</dc:title>
  <dc:creator>Admin</dc:creator>
  <cp:lastModifiedBy>Иван Иванов</cp:lastModifiedBy>
  <cp:revision>469</cp:revision>
  <dcterms:created xsi:type="dcterms:W3CDTF">2020-09-03T13:34:10Z</dcterms:created>
  <dcterms:modified xsi:type="dcterms:W3CDTF">2025-08-24T15:23:37Z</dcterms:modified>
</cp:coreProperties>
</file>